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8" r:id="rId3"/>
    <p:sldId id="263" r:id="rId4"/>
    <p:sldId id="259" r:id="rId5"/>
    <p:sldId id="260" r:id="rId6"/>
    <p:sldId id="264" r:id="rId7"/>
    <p:sldId id="265" r:id="rId8"/>
    <p:sldId id="266" r:id="rId9"/>
    <p:sldId id="267" r:id="rId10"/>
    <p:sldId id="268" r:id="rId11"/>
    <p:sldId id="269" r:id="rId12"/>
    <p:sldId id="270" r:id="rId13"/>
    <p:sldId id="271" r:id="rId14"/>
    <p:sldId id="261" r:id="rId15"/>
    <p:sldId id="272" r:id="rId16"/>
    <p:sldId id="273" r:id="rId17"/>
    <p:sldId id="274" r:id="rId18"/>
    <p:sldId id="275" r:id="rId19"/>
    <p:sldId id="276" r:id="rId20"/>
    <p:sldId id="277" r:id="rId21"/>
    <p:sldId id="278" r:id="rId22"/>
    <p:sldId id="262" r:id="rId23"/>
    <p:sldId id="279" r:id="rId24"/>
    <p:sldId id="280" r:id="rId25"/>
    <p:sldId id="281" r:id="rId26"/>
    <p:sldId id="282" r:id="rId27"/>
    <p:sldId id="2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33" d="100"/>
          <a:sy n="33" d="100"/>
        </p:scale>
        <p:origin x="2549" y="137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0F56B6-82D0-4D3E-962A-C4872E205CC4}" type="datetimeFigureOut">
              <a:rPr lang="en-US" smtClean="0"/>
              <a:t>5/31/2026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E25A8-B250-4F60-9A7B-51CACD70CD76}" type="slidenum">
              <a:rPr lang="en-US" smtClean="0"/>
              <a:t>‹#›</a:t>
            </a:fld>
            <a:endParaRPr lang="en-US"/>
          </a:p>
        </p:txBody>
      </p:sp>
    </p:spTree>
    <p:extLst>
      <p:ext uri="{BB962C8B-B14F-4D97-AF65-F5344CB8AC3E}">
        <p14:creationId xmlns:p14="http://schemas.microsoft.com/office/powerpoint/2010/main" val="1586890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FB8A83B-1EFC-4D90-9E5E-0F6BAD5BC833}" type="datetime1">
              <a:rPr lang="en-US" smtClean="0"/>
              <a:t>5/31/2026</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8D9E06-E66A-4166-A23E-BFE54FC5FD16}" type="datetime1">
              <a:rPr lang="en-US" smtClean="0"/>
              <a:t>5/31/2026</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1B3D59-C67A-470E-978C-6AF0DE209B59}" type="datetime1">
              <a:rPr lang="en-US" smtClean="0"/>
              <a:t>5/31/2026</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E411C-0E02-4688-9761-BED26F0B5CA4}" type="datetime1">
              <a:rPr lang="en-US" smtClean="0"/>
              <a:t>5/31/2026</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562FD6-C7A6-4CF8-BA9D-3C60AA0A9ED6}" type="datetime1">
              <a:rPr lang="en-US" smtClean="0"/>
              <a:t>5/31/2026</a:t>
            </a:fld>
            <a:endParaRPr lang="en-US"/>
          </a:p>
        </p:txBody>
      </p:sp>
      <p:sp>
        <p:nvSpPr>
          <p:cNvPr id="8" name="Footer Placeholder 7"/>
          <p:cNvSpPr>
            <a:spLocks noGrp="1"/>
          </p:cNvSpPr>
          <p:nvPr>
            <p:ph type="ftr" sz="quarter" idx="11"/>
          </p:nvPr>
        </p:nvSpPr>
        <p:spPr/>
        <p:txBody>
          <a:bodyPr/>
          <a:lstStyle/>
          <a:p>
            <a:r>
              <a:rPr lang="en-US"/>
              <a:t>1</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D79B1E-2E57-4A47-B75F-C2F9E7D468F0}" type="datetime1">
              <a:rPr lang="en-US" smtClean="0"/>
              <a:t>5/31/2026</a:t>
            </a:fld>
            <a:endParaRPr lang="en-US"/>
          </a:p>
        </p:txBody>
      </p:sp>
      <p:sp>
        <p:nvSpPr>
          <p:cNvPr id="4" name="Footer Placeholder 3"/>
          <p:cNvSpPr>
            <a:spLocks noGrp="1"/>
          </p:cNvSpPr>
          <p:nvPr>
            <p:ph type="ftr" sz="quarter" idx="11"/>
          </p:nvPr>
        </p:nvSpPr>
        <p:spPr/>
        <p:txBody>
          <a:bodyPr/>
          <a:lstStyle/>
          <a:p>
            <a:r>
              <a:rPr lang="en-US"/>
              <a:t>1</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D8D5A9-554A-4227-BFF7-F6113A59025D}" type="datetime1">
              <a:rPr lang="en-US" smtClean="0"/>
              <a:t>5/31/2026</a:t>
            </a:fld>
            <a:endParaRPr lang="en-US"/>
          </a:p>
        </p:txBody>
      </p:sp>
      <p:sp>
        <p:nvSpPr>
          <p:cNvPr id="3" name="Footer Placeholder 2"/>
          <p:cNvSpPr>
            <a:spLocks noGrp="1"/>
          </p:cNvSpPr>
          <p:nvPr>
            <p:ph type="ftr" sz="quarter" idx="11"/>
          </p:nvPr>
        </p:nvSpPr>
        <p:spPr/>
        <p:txBody>
          <a:bodyPr/>
          <a:lstStyle/>
          <a:p>
            <a:r>
              <a:rPr lang="en-US"/>
              <a:t>1</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47D0F3-B934-4D89-ACA1-5CC44893185E}" type="datetime1">
              <a:rPr lang="en-US" smtClean="0"/>
              <a:t>5/31/2026</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D74C33-E5C4-4E73-B4F3-4BC61F2B834C}" type="datetime1">
              <a:rPr lang="en-US" smtClean="0"/>
              <a:t>5/31/2026</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0E78E7-1CC5-4AAF-B8A1-46CBC0BD2682}" type="datetime1">
              <a:rPr lang="en-US" smtClean="0"/>
              <a:t>5/31/2026</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6BC17F-3AAB-4341-8C54-5F4DC8A565AF}" type="datetime1">
              <a:rPr lang="en-US" smtClean="0"/>
              <a:t>5/31/2026</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B060F3-125B-4078-9BBA-E086B2C80930}" type="datetime1">
              <a:rPr lang="en-US" smtClean="0"/>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_clean_corporate_conference_virtual_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315384" y="2736502"/>
            <a:ext cx="5742432" cy="1384995"/>
          </a:xfrm>
          <a:prstGeom prst="rect">
            <a:avLst/>
          </a:prstGeom>
          <a:noFill/>
        </p:spPr>
        <p:txBody>
          <a:bodyPr wrap="square">
            <a:spAutoFit/>
          </a:bodyPr>
          <a:lstStyle/>
          <a:p>
            <a:pPr algn="ctr"/>
            <a:r>
              <a:rPr lang="en-US" sz="2800" dirty="0">
                <a:solidFill>
                  <a:schemeClr val="tx2"/>
                </a:solidFill>
                <a:latin typeface="Arial" panose="020B0604020202020204" pitchFamily="34" charset="0"/>
                <a:cs typeface="Arial" panose="020B0604020202020204" pitchFamily="34" charset="0"/>
              </a:rPr>
              <a:t>Satellite Image Segmentation and Classification using a Deep learning Model</a:t>
            </a:r>
            <a:endParaRPr lang="en-US" sz="2800" dirty="0">
              <a:solidFill>
                <a:schemeClr val="tx2"/>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xmlns="" id="{D4D838C2-6180-EF61-48E2-42253EDB19BE}"/>
              </a:ext>
            </a:extLst>
          </p:cNvPr>
          <p:cNvPicPr>
            <a:picLocks noChangeAspect="1"/>
          </p:cNvPicPr>
          <p:nvPr/>
        </p:nvPicPr>
        <p:blipFill>
          <a:blip r:embed="rId3"/>
          <a:stretch>
            <a:fillRect/>
          </a:stretch>
        </p:blipFill>
        <p:spPr>
          <a:xfrm>
            <a:off x="10588357" y="115253"/>
            <a:ext cx="1291005" cy="1139527"/>
          </a:xfrm>
          <a:prstGeom prst="rect">
            <a:avLst/>
          </a:prstGeom>
        </p:spPr>
      </p:pic>
      <p:sp>
        <p:nvSpPr>
          <p:cNvPr id="4" name="Footer Placeholder 3">
            <a:extLst>
              <a:ext uri="{FF2B5EF4-FFF2-40B4-BE49-F238E27FC236}">
                <a16:creationId xmlns:a16="http://schemas.microsoft.com/office/drawing/2014/main" xmlns="" id="{4C852E30-82A4-DFCB-691B-B8075E2016DD}"/>
              </a:ext>
            </a:extLst>
          </p:cNvPr>
          <p:cNvSpPr>
            <a:spLocks noGrp="1"/>
          </p:cNvSpPr>
          <p:nvPr>
            <p:ph type="ftr" sz="quarter" idx="11"/>
          </p:nvPr>
        </p:nvSpPr>
        <p:spPr/>
        <p:txBody>
          <a:bodyPr/>
          <a:lstStyle/>
          <a:p>
            <a:r>
              <a:rPr lang="en-US"/>
              <a:t>1</a:t>
            </a:r>
          </a:p>
        </p:txBody>
      </p:sp>
      <p:sp>
        <p:nvSpPr>
          <p:cNvPr id="5" name="Slide Number Placeholder 4">
            <a:extLst>
              <a:ext uri="{FF2B5EF4-FFF2-40B4-BE49-F238E27FC236}">
                <a16:creationId xmlns:a16="http://schemas.microsoft.com/office/drawing/2014/main" xmlns="" id="{9A17B3FC-49E3-0C7C-1C2F-1BB0A44F6BD2}"/>
              </a:ext>
            </a:extLst>
          </p:cNvPr>
          <p:cNvSpPr>
            <a:spLocks noGrp="1"/>
          </p:cNvSpPr>
          <p:nvPr>
            <p:ph type="sldNum" sz="quarter" idx="12"/>
          </p:nvPr>
        </p:nvSpPr>
        <p:spPr/>
        <p:txBody>
          <a:bodyPr/>
          <a:lstStyle/>
          <a:p>
            <a:fld id="{C1FF6DA9-008F-8B48-92A6-B652298478BF}" type="slidenum">
              <a:rPr lang="en-US" smtClean="0"/>
              <a:t>1</a:t>
            </a:fld>
            <a:endParaRPr lang="en-US"/>
          </a:p>
        </p:txBody>
      </p:sp>
      <p:pic>
        <p:nvPicPr>
          <p:cNvPr id="10" name="Picture 9">
            <a:extLst>
              <a:ext uri="{FF2B5EF4-FFF2-40B4-BE49-F238E27FC236}">
                <a16:creationId xmlns:a16="http://schemas.microsoft.com/office/drawing/2014/main" xmlns="" id="{E078ACF8-781D-F5D5-33F3-116773932E7D}"/>
              </a:ext>
            </a:extLst>
          </p:cNvPr>
          <p:cNvPicPr>
            <a:picLocks noChangeAspect="1"/>
          </p:cNvPicPr>
          <p:nvPr/>
        </p:nvPicPr>
        <p:blipFill>
          <a:blip r:embed="rId4"/>
          <a:stretch>
            <a:fillRect/>
          </a:stretch>
        </p:blipFill>
        <p:spPr>
          <a:xfrm>
            <a:off x="497014" y="1485476"/>
            <a:ext cx="2182177" cy="2182177"/>
          </a:xfrm>
          <a:prstGeom prst="rect">
            <a:avLst/>
          </a:prstGeom>
        </p:spPr>
      </p:pic>
      <p:sp>
        <p:nvSpPr>
          <p:cNvPr id="12" name="TextBox 11">
            <a:extLst>
              <a:ext uri="{FF2B5EF4-FFF2-40B4-BE49-F238E27FC236}">
                <a16:creationId xmlns:a16="http://schemas.microsoft.com/office/drawing/2014/main" xmlns="" id="{629304BB-F08E-7103-098E-292FA8A78719}"/>
              </a:ext>
            </a:extLst>
          </p:cNvPr>
          <p:cNvSpPr txBox="1"/>
          <p:nvPr/>
        </p:nvSpPr>
        <p:spPr>
          <a:xfrm>
            <a:off x="3413949" y="2176454"/>
            <a:ext cx="5742432" cy="400110"/>
          </a:xfrm>
          <a:prstGeom prst="rect">
            <a:avLst/>
          </a:prstGeom>
          <a:noFill/>
        </p:spPr>
        <p:txBody>
          <a:bodyPr wrap="square">
            <a:spAutoFit/>
          </a:bodyPr>
          <a:lstStyle/>
          <a:p>
            <a:pPr algn="ctr"/>
            <a:r>
              <a:rPr lang="en-US" sz="2000" dirty="0">
                <a:solidFill>
                  <a:schemeClr val="tx2"/>
                </a:solidFill>
                <a:latin typeface="Arial" panose="020B0604020202020204" pitchFamily="34" charset="0"/>
                <a:cs typeface="Arial" panose="020B0604020202020204" pitchFamily="34" charset="0"/>
              </a:rPr>
              <a:t>Paper </a:t>
            </a:r>
            <a:r>
              <a:rPr lang="en-US" sz="2000" dirty="0" smtClean="0">
                <a:solidFill>
                  <a:schemeClr val="tx2"/>
                </a:solidFill>
                <a:latin typeface="Arial" panose="020B0604020202020204" pitchFamily="34" charset="0"/>
                <a:cs typeface="Arial" panose="020B0604020202020204" pitchFamily="34" charset="0"/>
              </a:rPr>
              <a:t>ID :347</a:t>
            </a:r>
            <a:endParaRPr lang="en-US" sz="2000" dirty="0">
              <a:solidFill>
                <a:schemeClr val="tx2"/>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EA84BA-EDA0-D031-E310-A7E8DEE5D93C}"/>
              </a:ext>
            </a:extLst>
          </p:cNvPr>
          <p:cNvSpPr>
            <a:spLocks noGrp="1"/>
          </p:cNvSpPr>
          <p:nvPr>
            <p:ph type="title"/>
          </p:nvPr>
        </p:nvSpPr>
        <p:spPr>
          <a:xfrm>
            <a:off x="4776952" y="1098051"/>
            <a:ext cx="11365992" cy="679038"/>
          </a:xfrm>
        </p:spPr>
        <p:txBody>
          <a:bodyPr>
            <a:normAutofit fontScale="90000"/>
          </a:bodyPr>
          <a:lstStyle/>
          <a:p>
            <a:pPr algn="l"/>
            <a:r>
              <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rPr>
              <a:t>Abstract</a:t>
            </a:r>
            <a:endParaRPr lang="en-US" dirty="0">
              <a:solidFill>
                <a:srgbClr val="FF0000"/>
              </a:solidFill>
            </a:endParaRPr>
          </a:p>
        </p:txBody>
      </p:sp>
      <p:sp>
        <p:nvSpPr>
          <p:cNvPr id="3" name="Content Placeholder 2">
            <a:extLst>
              <a:ext uri="{FF2B5EF4-FFF2-40B4-BE49-F238E27FC236}">
                <a16:creationId xmlns:a16="http://schemas.microsoft.com/office/drawing/2014/main" xmlns="" id="{4DCD470C-470D-8E75-7896-F36D382A7471}"/>
              </a:ext>
            </a:extLst>
          </p:cNvPr>
          <p:cNvSpPr>
            <a:spLocks noGrp="1"/>
          </p:cNvSpPr>
          <p:nvPr>
            <p:ph idx="1"/>
          </p:nvPr>
        </p:nvSpPr>
        <p:spPr>
          <a:xfrm>
            <a:off x="457200" y="1947672"/>
            <a:ext cx="11365992" cy="4408678"/>
          </a:xfrm>
        </p:spPr>
        <p:txBody>
          <a:bodyPr>
            <a:normAutofit fontScale="85000" lnSpcReduction="20000"/>
          </a:bodyPr>
          <a:lstStyle/>
          <a:p>
            <a:pPr algn="just">
              <a:spcBef>
                <a:spcPct val="0"/>
              </a:spcBef>
            </a:pPr>
            <a:r>
              <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rPr>
              <a:t>	Satellite imagery plays a vital role in applications such as urban planning, agriculture, environmental monitoring, and disaster management. This project proposes a deep learning - based system for satellite image segmentation and object recognition optimized for edge computing. Using CNN(</a:t>
            </a:r>
            <a:r>
              <a:rPr lang="en-US" b="1" dirty="0" err="1">
                <a:solidFill>
                  <a:srgbClr val="383C5B"/>
                </a:solidFill>
                <a:latin typeface="Times New Roman" panose="02020603050405020304" pitchFamily="18" charset="0"/>
                <a:ea typeface="Agrandir Narrow"/>
                <a:cs typeface="Times New Roman" panose="02020603050405020304" pitchFamily="18" charset="0"/>
                <a:sym typeface="Agrandir Narrow"/>
              </a:rPr>
              <a:t>ResNet</a:t>
            </a:r>
            <a:r>
              <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rPr>
              <a:t>) and U-Net models with sequential approach, where the system performs semantic segmentation and object detection on satellite images after preprocessing techniques like normalization, resizing. Model optimization methods such as quantization and pruning enable efficient deployment , reducing latency and cloud dependency. The proposed system achieves high accuracy and efficient performance, making it suitable for real-time satellite image analysis in remote and resource-constrained environments.</a:t>
            </a:r>
          </a:p>
          <a:p>
            <a:pPr algn="just">
              <a:spcBef>
                <a:spcPct val="0"/>
              </a:spcBef>
            </a:pPr>
            <a:endPar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p:txBody>
      </p:sp>
      <p:sp>
        <p:nvSpPr>
          <p:cNvPr id="5" name="Slide Number Placeholder 4">
            <a:extLst>
              <a:ext uri="{FF2B5EF4-FFF2-40B4-BE49-F238E27FC236}">
                <a16:creationId xmlns:a16="http://schemas.microsoft.com/office/drawing/2014/main" xmlns="" id="{C742BA1F-ADC5-79BC-382E-890148C8A36C}"/>
              </a:ext>
            </a:extLst>
          </p:cNvPr>
          <p:cNvSpPr>
            <a:spLocks noGrp="1"/>
          </p:cNvSpPr>
          <p:nvPr>
            <p:ph type="sldNum" sz="quarter" idx="12"/>
          </p:nvPr>
        </p:nvSpPr>
        <p:spPr/>
        <p:txBody>
          <a:bodyPr/>
          <a:lstStyle/>
          <a:p>
            <a:fld id="{C1FF6DA9-008F-8B48-92A6-B652298478BF}" type="slidenum">
              <a:rPr lang="en-US" smtClean="0"/>
              <a:t>2</a:t>
            </a:fld>
            <a:endParaRPr lang="en-US" dirty="0"/>
          </a:p>
        </p:txBody>
      </p:sp>
      <p:pic>
        <p:nvPicPr>
          <p:cNvPr id="6" name="Content Placeholder 7">
            <a:extLst>
              <a:ext uri="{FF2B5EF4-FFF2-40B4-BE49-F238E27FC236}">
                <a16:creationId xmlns:a16="http://schemas.microsoft.com/office/drawing/2014/main" xmlns="" id="{AAC080D7-70D7-FD20-AB11-A7EFDBDA3174}"/>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E5A1EA20-77A3-6D8F-446F-10A26F5E8BE5}"/>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38306BB6-DDBE-E236-E219-28AE7ED2D05B}"/>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29767CA7-3418-7815-9BFB-7D892ECAB5C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2C46748-D974-00F7-FCBC-2EC5F85C789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5C4B4873-A94E-22D2-1870-4C4B744DCC4B}"/>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A3971DDF-98A6-4B35-F8FA-0C605C6372EB}"/>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xmlns="" id="{FBFEA5C0-5EB5-B91D-8738-FB9B765EE364}"/>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366540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EA84BA-EDA0-D031-E310-A7E8DEE5D93C}"/>
              </a:ext>
            </a:extLst>
          </p:cNvPr>
          <p:cNvSpPr>
            <a:spLocks noGrp="1"/>
          </p:cNvSpPr>
          <p:nvPr>
            <p:ph type="title"/>
          </p:nvPr>
        </p:nvSpPr>
        <p:spPr>
          <a:xfrm>
            <a:off x="4776952" y="1098051"/>
            <a:ext cx="11365992" cy="679038"/>
          </a:xfrm>
        </p:spPr>
        <p:txBody>
          <a:bodyPr>
            <a:normAutofit fontScale="90000"/>
          </a:bodyPr>
          <a:lstStyle/>
          <a:p>
            <a:pPr algn="l"/>
            <a:r>
              <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rPr>
              <a:t>Objective</a:t>
            </a:r>
            <a:endParaRPr lang="en-US" dirty="0">
              <a:solidFill>
                <a:srgbClr val="FF0000"/>
              </a:solidFill>
            </a:endParaRPr>
          </a:p>
        </p:txBody>
      </p:sp>
      <p:sp>
        <p:nvSpPr>
          <p:cNvPr id="3" name="Content Placeholder 2">
            <a:extLst>
              <a:ext uri="{FF2B5EF4-FFF2-40B4-BE49-F238E27FC236}">
                <a16:creationId xmlns:a16="http://schemas.microsoft.com/office/drawing/2014/main" xmlns="" id="{4DCD470C-470D-8E75-7896-F36D382A7471}"/>
              </a:ext>
            </a:extLst>
          </p:cNvPr>
          <p:cNvSpPr>
            <a:spLocks noGrp="1"/>
          </p:cNvSpPr>
          <p:nvPr>
            <p:ph idx="1"/>
          </p:nvPr>
        </p:nvSpPr>
        <p:spPr>
          <a:xfrm>
            <a:off x="457200" y="1947672"/>
            <a:ext cx="11365992" cy="4408678"/>
          </a:xfrm>
        </p:spPr>
        <p:txBody>
          <a:bodyPr>
            <a:normAutofit fontScale="77500" lnSpcReduction="20000"/>
          </a:bodyPr>
          <a:lstStyle/>
          <a:p>
            <a:pPr marL="571500" indent="-571500" algn="just">
              <a:spcBef>
                <a:spcPct val="0"/>
              </a:spcBef>
              <a:buFont typeface="Wingdings" panose="05000000000000000000" pitchFamily="2" charset="2"/>
              <a:buChar char="q"/>
            </a:pPr>
            <a:r>
              <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rPr>
              <a:t>To design a deep learning based system for satellite image segmentation and object recognition.</a:t>
            </a:r>
          </a:p>
          <a:p>
            <a:pPr marL="571500" indent="-571500" algn="just">
              <a:spcBef>
                <a:spcPct val="0"/>
              </a:spcBef>
              <a:buFont typeface="Wingdings" panose="05000000000000000000" pitchFamily="2" charset="2"/>
              <a:buChar char="q"/>
            </a:pPr>
            <a:endPar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marL="571500" indent="-571500" algn="just">
              <a:spcBef>
                <a:spcPct val="0"/>
              </a:spcBef>
              <a:buFont typeface="Wingdings" panose="05000000000000000000" pitchFamily="2" charset="2"/>
              <a:buChar char="q"/>
            </a:pPr>
            <a:r>
              <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rPr>
              <a:t>To accurately classify and segment land cover regions such as urban areas, vegetation, water bodies, and roads.</a:t>
            </a:r>
          </a:p>
          <a:p>
            <a:pPr marL="571500" indent="-571500" algn="just">
              <a:spcBef>
                <a:spcPct val="0"/>
              </a:spcBef>
              <a:buFont typeface="Wingdings" panose="05000000000000000000" pitchFamily="2" charset="2"/>
              <a:buChar char="q"/>
            </a:pPr>
            <a:endPar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marL="571500" indent="-571500" algn="just">
              <a:spcBef>
                <a:spcPct val="0"/>
              </a:spcBef>
              <a:buFont typeface="Wingdings" panose="05000000000000000000" pitchFamily="2" charset="2"/>
              <a:buChar char="q"/>
            </a:pPr>
            <a:r>
              <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rPr>
              <a:t>To detect and localize key objects like buildings and agricultural fields in satellite images.</a:t>
            </a:r>
          </a:p>
          <a:p>
            <a:pPr marL="571500" indent="-571500" algn="just">
              <a:spcBef>
                <a:spcPct val="0"/>
              </a:spcBef>
              <a:buFont typeface="Wingdings" panose="05000000000000000000" pitchFamily="2" charset="2"/>
              <a:buChar char="q"/>
            </a:pPr>
            <a:endPar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marL="571500" indent="-571500" algn="just">
              <a:spcBef>
                <a:spcPct val="0"/>
              </a:spcBef>
              <a:buFont typeface="Wingdings" panose="05000000000000000000" pitchFamily="2" charset="2"/>
              <a:buChar char="q"/>
            </a:pPr>
            <a:r>
              <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rPr>
              <a:t>To optimize deep learning models for efficient deployment on edge computing devices.</a:t>
            </a:r>
          </a:p>
          <a:p>
            <a:pPr marL="571500" indent="-571500" algn="just">
              <a:spcBef>
                <a:spcPct val="0"/>
              </a:spcBef>
              <a:buFont typeface="Wingdings" panose="05000000000000000000" pitchFamily="2" charset="2"/>
              <a:buChar char="q"/>
            </a:pPr>
            <a:endPar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marL="571500" indent="-571500" algn="just">
              <a:spcBef>
                <a:spcPct val="0"/>
              </a:spcBef>
              <a:buFont typeface="Wingdings" panose="05000000000000000000" pitchFamily="2" charset="2"/>
              <a:buChar char="q"/>
            </a:pPr>
            <a:r>
              <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rPr>
              <a:t>To enable real-time, accurate, and scalable satellite image analysis with reduced latency and cloud dependency.</a:t>
            </a:r>
          </a:p>
          <a:p>
            <a:pPr algn="just">
              <a:spcBef>
                <a:spcPct val="0"/>
              </a:spcBef>
            </a:pPr>
            <a:endPar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p:txBody>
      </p:sp>
      <p:sp>
        <p:nvSpPr>
          <p:cNvPr id="5" name="Slide Number Placeholder 4">
            <a:extLst>
              <a:ext uri="{FF2B5EF4-FFF2-40B4-BE49-F238E27FC236}">
                <a16:creationId xmlns:a16="http://schemas.microsoft.com/office/drawing/2014/main" xmlns="" id="{C742BA1F-ADC5-79BC-382E-890148C8A36C}"/>
              </a:ext>
            </a:extLst>
          </p:cNvPr>
          <p:cNvSpPr>
            <a:spLocks noGrp="1"/>
          </p:cNvSpPr>
          <p:nvPr>
            <p:ph type="sldNum" sz="quarter" idx="12"/>
          </p:nvPr>
        </p:nvSpPr>
        <p:spPr/>
        <p:txBody>
          <a:bodyPr/>
          <a:lstStyle/>
          <a:p>
            <a:fld id="{C1FF6DA9-008F-8B48-92A6-B652298478BF}" type="slidenum">
              <a:rPr lang="en-US" smtClean="0"/>
              <a:t>3</a:t>
            </a:fld>
            <a:endParaRPr lang="en-US" dirty="0"/>
          </a:p>
        </p:txBody>
      </p:sp>
      <p:pic>
        <p:nvPicPr>
          <p:cNvPr id="6" name="Content Placeholder 7">
            <a:extLst>
              <a:ext uri="{FF2B5EF4-FFF2-40B4-BE49-F238E27FC236}">
                <a16:creationId xmlns:a16="http://schemas.microsoft.com/office/drawing/2014/main" xmlns="" id="{AAC080D7-70D7-FD20-AB11-A7EFDBDA3174}"/>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E5A1EA20-77A3-6D8F-446F-10A26F5E8BE5}"/>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38306BB6-DDBE-E236-E219-28AE7ED2D05B}"/>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29767CA7-3418-7815-9BFB-7D892ECAB5C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2C46748-D974-00F7-FCBC-2EC5F85C789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5C4B4873-A94E-22D2-1870-4C4B744DCC4B}"/>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A3971DDF-98A6-4B35-F8FA-0C605C6372EB}"/>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xmlns="" id="{FBFEA5C0-5EB5-B91D-8738-FB9B765EE364}"/>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3396349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92F31D-BFD0-19DF-C486-BCEDE73D5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00641FD-8CF6-AF4B-702E-203DB99F561C}"/>
              </a:ext>
            </a:extLst>
          </p:cNvPr>
          <p:cNvSpPr>
            <a:spLocks noGrp="1"/>
          </p:cNvSpPr>
          <p:nvPr>
            <p:ph type="title"/>
          </p:nvPr>
        </p:nvSpPr>
        <p:spPr>
          <a:xfrm>
            <a:off x="457200" y="1076610"/>
            <a:ext cx="11365992" cy="679038"/>
          </a:xfrm>
        </p:spPr>
        <p:txBody>
          <a:bodyPr>
            <a:normAutofit fontScale="90000"/>
          </a:bodyPr>
          <a:lstStyle/>
          <a:p>
            <a:pPr>
              <a:lnSpc>
                <a:spcPts val="10296"/>
              </a:lnSpc>
            </a:pPr>
            <a:r>
              <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rPr>
              <a:t>Literature Review</a:t>
            </a:r>
            <a:endPar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endParaRPr>
          </a:p>
        </p:txBody>
      </p:sp>
      <p:sp>
        <p:nvSpPr>
          <p:cNvPr id="3" name="Content Placeholder 2">
            <a:extLst>
              <a:ext uri="{FF2B5EF4-FFF2-40B4-BE49-F238E27FC236}">
                <a16:creationId xmlns:a16="http://schemas.microsoft.com/office/drawing/2014/main" xmlns="" id="{88481E81-78E3-D7A5-AB51-B999ED7E16EE}"/>
              </a:ext>
            </a:extLst>
          </p:cNvPr>
          <p:cNvSpPr>
            <a:spLocks noGrp="1"/>
          </p:cNvSpPr>
          <p:nvPr>
            <p:ph idx="1"/>
          </p:nvPr>
        </p:nvSpPr>
        <p:spPr>
          <a:xfrm>
            <a:off x="457200" y="1947672"/>
            <a:ext cx="11365992" cy="4408678"/>
          </a:xfrm>
        </p:spPr>
        <p:txBody>
          <a:bodyPr>
            <a:noAutofit/>
          </a:bodyPr>
          <a:lstStyle/>
          <a:p>
            <a:pPr algn="ctr">
              <a:spcBef>
                <a:spcPct val="0"/>
              </a:spcBef>
            </a:pPr>
            <a:r>
              <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rPr>
              <a:t>Category 1 : Survey and Review</a:t>
            </a: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[1] </a:t>
            </a:r>
            <a:r>
              <a:rPr lang="en-US" sz="2000" dirty="0" err="1">
                <a:solidFill>
                  <a:srgbClr val="383C5B"/>
                </a:solidFill>
                <a:latin typeface="Times New Roman" panose="02020603050405020304" pitchFamily="18" charset="0"/>
                <a:ea typeface="Agrandir Narrow"/>
                <a:cs typeface="Times New Roman" panose="02020603050405020304" pitchFamily="18" charset="0"/>
                <a:sym typeface="Agrandir Narrow"/>
              </a:rPr>
              <a:t>Sudha,S.P</a:t>
            </a: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.(2026)  Addressed the challenges while integrating ML and </a:t>
            </a:r>
            <a:r>
              <a:rPr lang="en-US" sz="2000" dirty="0" err="1">
                <a:solidFill>
                  <a:srgbClr val="383C5B"/>
                </a:solidFill>
                <a:latin typeface="Times New Roman" panose="02020603050405020304" pitchFamily="18" charset="0"/>
                <a:ea typeface="Agrandir Narrow"/>
                <a:cs typeface="Times New Roman" panose="02020603050405020304" pitchFamily="18" charset="0"/>
                <a:sym typeface="Agrandir Narrow"/>
              </a:rPr>
              <a:t>IoT</a:t>
            </a: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 data-driven precision agriculture.</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[2] Ahmad et al.(2026) proposed the UAV based remote sensing combined with Deep learning precise weed detection</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[3] </a:t>
            </a:r>
            <a:r>
              <a:rPr lang="en-US" sz="2000" dirty="0" err="1">
                <a:solidFill>
                  <a:srgbClr val="383C5B"/>
                </a:solidFill>
                <a:latin typeface="Times New Roman" panose="02020603050405020304" pitchFamily="18" charset="0"/>
                <a:ea typeface="Agrandir Narrow"/>
                <a:cs typeface="Times New Roman" panose="02020603050405020304" pitchFamily="18" charset="0"/>
                <a:sym typeface="Agrandir Narrow"/>
              </a:rPr>
              <a:t>Adegun</a:t>
            </a: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 et al.(2022) proposed the  Survey on recent DL based object detection methods and dataset and highlighting the challenges</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[4] Wei, </a:t>
            </a:r>
            <a:r>
              <a:rPr lang="en-US" sz="2000" dirty="0" err="1">
                <a:solidFill>
                  <a:srgbClr val="383C5B"/>
                </a:solidFill>
                <a:latin typeface="Times New Roman" panose="02020603050405020304" pitchFamily="18" charset="0"/>
                <a:ea typeface="Agrandir Narrow"/>
                <a:cs typeface="Times New Roman" panose="02020603050405020304" pitchFamily="18" charset="0"/>
                <a:sym typeface="Agrandir Narrow"/>
              </a:rPr>
              <a:t>Junyong</a:t>
            </a: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(2016), proposed the Surveys state-of-the-art SAR automatic target recognition methods and benchmarking approaches from an end-to-end perspective</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a:t>
            </a:r>
            <a:r>
              <a:rPr lang="en-US" sz="2000" dirty="0"/>
              <a:t/>
            </a:r>
            <a:br>
              <a:rPr lang="en-US" sz="2000" dirty="0"/>
            </a:br>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41E8483D-0A35-EAA5-E3B5-13FD4A5D96A4}"/>
              </a:ext>
            </a:extLst>
          </p:cNvPr>
          <p:cNvSpPr>
            <a:spLocks noGrp="1"/>
          </p:cNvSpPr>
          <p:nvPr>
            <p:ph type="sldNum" sz="quarter" idx="12"/>
          </p:nvPr>
        </p:nvSpPr>
        <p:spPr/>
        <p:txBody>
          <a:bodyPr/>
          <a:lstStyle/>
          <a:p>
            <a:fld id="{C1FF6DA9-008F-8B48-92A6-B652298478BF}" type="slidenum">
              <a:rPr lang="en-US" smtClean="0"/>
              <a:t>4</a:t>
            </a:fld>
            <a:endParaRPr lang="en-US" dirty="0"/>
          </a:p>
        </p:txBody>
      </p:sp>
      <p:pic>
        <p:nvPicPr>
          <p:cNvPr id="6" name="Content Placeholder 7">
            <a:extLst>
              <a:ext uri="{FF2B5EF4-FFF2-40B4-BE49-F238E27FC236}">
                <a16:creationId xmlns:a16="http://schemas.microsoft.com/office/drawing/2014/main" xmlns="" id="{BAD12DB4-048C-FBFD-CC3B-4518AA596ED3}"/>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98401725-CE52-1A64-FD32-CED9AA6C0B99}"/>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2935A4F3-49E9-FF30-C8E6-FE556A388D67}"/>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A617FF0F-CFAA-FF63-B4A4-2768E0B99AE0}"/>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D2874CFD-4EEB-8FCE-0B69-5E6FC671F529}"/>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2C3BCBA5-F0A7-AE58-C5C4-2DF852E3CF8E}"/>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0B3D527A-B1EE-A9A7-D8E2-AFDBD507252D}"/>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620BC316-A870-84E3-2A09-33CEB5035301}"/>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1084997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69BB2B-2B1A-5B5E-6F22-BC819A47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B5474CE-A57D-2A54-FDDB-F9FA39D47679}"/>
              </a:ext>
            </a:extLst>
          </p:cNvPr>
          <p:cNvSpPr>
            <a:spLocks noGrp="1"/>
          </p:cNvSpPr>
          <p:nvPr>
            <p:ph type="title"/>
          </p:nvPr>
        </p:nvSpPr>
        <p:spPr>
          <a:xfrm>
            <a:off x="457200" y="-2324316"/>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53EB2F98-DD85-5BD2-090A-B8DB89FBF325}"/>
              </a:ext>
            </a:extLst>
          </p:cNvPr>
          <p:cNvSpPr>
            <a:spLocks noGrp="1"/>
          </p:cNvSpPr>
          <p:nvPr>
            <p:ph idx="1"/>
          </p:nvPr>
        </p:nvSpPr>
        <p:spPr>
          <a:xfrm>
            <a:off x="413004" y="1570704"/>
            <a:ext cx="11365992" cy="4408678"/>
          </a:xfrm>
        </p:spPr>
        <p:txBody>
          <a:bodyPr>
            <a:noAutofit/>
          </a:bodyPr>
          <a:lstStyle/>
          <a:p>
            <a:pPr algn="ctr">
              <a:spcBef>
                <a:spcPct val="0"/>
              </a:spcBef>
            </a:pPr>
            <a:r>
              <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rPr>
              <a:t>Category 2 : Experimental analysis </a:t>
            </a:r>
          </a:p>
          <a:p>
            <a:pPr algn="just">
              <a:spcBef>
                <a:spcPct val="0"/>
              </a:spcBef>
            </a:pPr>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[5]Ahmad et al.(2026) proposed a study shows that combining UAV-based RGB image segmentation (K-means and GMM) with NDVI analysis effectively maps spatial variability in mature wheat crops, but RGB segmentation alone has limited reliability during early growth stages.</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[6]Yuan et al.(2026) proposed a comparative study evaluates deep learning models for small object detection in satellite imagery</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[7] Zhu et al.(2023)proposed a  study compares deep learning object detection models on satellite images and shows that YOLOv8 provides highly accurate and extremely fast detection for real-world remote sensing applications.</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[8] </a:t>
            </a:r>
            <a:r>
              <a:rPr lang="en-US" sz="2000" dirty="0" err="1">
                <a:solidFill>
                  <a:srgbClr val="383C5B"/>
                </a:solidFill>
                <a:latin typeface="Times New Roman" panose="02020603050405020304" pitchFamily="18" charset="0"/>
                <a:ea typeface="Agrandir Narrow"/>
                <a:cs typeface="Times New Roman" panose="02020603050405020304" pitchFamily="18" charset="0"/>
                <a:sym typeface="Agrandir Narrow"/>
              </a:rPr>
              <a:t>Y.Liu</a:t>
            </a: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(2015) proposed a  study that compares classical and sub-look SAR ship detection algorithms using multi-polarization and multi-frequency data</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6EE00F1C-A225-1A2A-1D52-C0674E4689F0}"/>
              </a:ext>
            </a:extLst>
          </p:cNvPr>
          <p:cNvSpPr>
            <a:spLocks noGrp="1"/>
          </p:cNvSpPr>
          <p:nvPr>
            <p:ph type="sldNum" sz="quarter" idx="12"/>
          </p:nvPr>
        </p:nvSpPr>
        <p:spPr/>
        <p:txBody>
          <a:bodyPr/>
          <a:lstStyle/>
          <a:p>
            <a:fld id="{C1FF6DA9-008F-8B48-92A6-B652298478BF}" type="slidenum">
              <a:rPr lang="en-US" smtClean="0"/>
              <a:t>5</a:t>
            </a:fld>
            <a:endParaRPr lang="en-US" dirty="0"/>
          </a:p>
        </p:txBody>
      </p:sp>
      <p:pic>
        <p:nvPicPr>
          <p:cNvPr id="6" name="Content Placeholder 7">
            <a:extLst>
              <a:ext uri="{FF2B5EF4-FFF2-40B4-BE49-F238E27FC236}">
                <a16:creationId xmlns:a16="http://schemas.microsoft.com/office/drawing/2014/main" xmlns="" id="{758CC5FF-D437-0AA4-A961-22456A3312D8}"/>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73AE05E9-EA8F-F552-D872-8E61711BE850}"/>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479F920E-0EFE-E8FA-EFEB-FCE4D3BA0D26}"/>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C7ACE08F-B532-0F2A-69C9-2A6BDCC317D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F076DA5-E650-25CA-07F5-03F5DFBCBEB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A3B06595-30D7-B7B3-47AC-D1E9299EE624}"/>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F97BA9C7-7869-D434-DF26-20BDFE503C32}"/>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3A563849-452E-6DC0-1563-C555788797FD}"/>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2345591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69BB2B-2B1A-5B5E-6F22-BC819A47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B5474CE-A57D-2A54-FDDB-F9FA39D47679}"/>
              </a:ext>
            </a:extLst>
          </p:cNvPr>
          <p:cNvSpPr>
            <a:spLocks noGrp="1"/>
          </p:cNvSpPr>
          <p:nvPr>
            <p:ph type="title"/>
          </p:nvPr>
        </p:nvSpPr>
        <p:spPr>
          <a:xfrm>
            <a:off x="457200" y="-2324316"/>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53EB2F98-DD85-5BD2-090A-B8DB89FBF325}"/>
              </a:ext>
            </a:extLst>
          </p:cNvPr>
          <p:cNvSpPr>
            <a:spLocks noGrp="1"/>
          </p:cNvSpPr>
          <p:nvPr>
            <p:ph idx="1"/>
          </p:nvPr>
        </p:nvSpPr>
        <p:spPr>
          <a:xfrm>
            <a:off x="413004" y="1570704"/>
            <a:ext cx="11365992" cy="4408678"/>
          </a:xfrm>
        </p:spPr>
        <p:txBody>
          <a:bodyPr>
            <a:noAutofit/>
          </a:bodyPr>
          <a:lstStyle/>
          <a:p>
            <a:pPr algn="ctr">
              <a:spcBef>
                <a:spcPct val="0"/>
              </a:spcBef>
            </a:pPr>
            <a:r>
              <a:rPr lang="en-US" sz="2400" b="1" dirty="0">
                <a:solidFill>
                  <a:srgbClr val="383C5B"/>
                </a:solidFill>
                <a:latin typeface="Times New Roman" panose="02020603050405020304" pitchFamily="18" charset="0"/>
                <a:ea typeface="Agrandir Narrow"/>
                <a:cs typeface="Times New Roman" panose="02020603050405020304" pitchFamily="18" charset="0"/>
                <a:sym typeface="Agrandir Narrow"/>
              </a:rPr>
              <a:t>Category 3 : Deep Learning Algorithm based analysis </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[10] </a:t>
            </a:r>
            <a:r>
              <a:rPr lang="en-US" sz="2000" dirty="0" err="1">
                <a:solidFill>
                  <a:srgbClr val="383C5B"/>
                </a:solidFill>
                <a:latin typeface="Times New Roman" panose="02020603050405020304" pitchFamily="18" charset="0"/>
                <a:ea typeface="Agrandir Narrow"/>
                <a:cs typeface="Times New Roman" panose="02020603050405020304" pitchFamily="18" charset="0"/>
                <a:sym typeface="Agrandir Narrow"/>
              </a:rPr>
              <a:t>Yammanauru</a:t>
            </a: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 (2026) proposed a dual attention–enhanced YOLO model is proposed for accurate small-object detection in satellite imagery. The model preserves contextual and spatial information with minimal parameters, achieving high accuracy on challenging datasets.</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rPr>
              <a:t>[11] Othman(2023) proposed  HB-YOLO, an improved YOLO framework with advanced feature extraction and attention mechanisms to enhance tiny object detection and tracking in satellite videos. </a:t>
            </a: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0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6EE00F1C-A225-1A2A-1D52-C0674E4689F0}"/>
              </a:ext>
            </a:extLst>
          </p:cNvPr>
          <p:cNvSpPr>
            <a:spLocks noGrp="1"/>
          </p:cNvSpPr>
          <p:nvPr>
            <p:ph type="sldNum" sz="quarter" idx="12"/>
          </p:nvPr>
        </p:nvSpPr>
        <p:spPr/>
        <p:txBody>
          <a:bodyPr/>
          <a:lstStyle/>
          <a:p>
            <a:fld id="{C1FF6DA9-008F-8B48-92A6-B652298478BF}" type="slidenum">
              <a:rPr lang="en-US" smtClean="0"/>
              <a:t>6</a:t>
            </a:fld>
            <a:endParaRPr lang="en-US" dirty="0"/>
          </a:p>
        </p:txBody>
      </p:sp>
      <p:pic>
        <p:nvPicPr>
          <p:cNvPr id="6" name="Content Placeholder 7">
            <a:extLst>
              <a:ext uri="{FF2B5EF4-FFF2-40B4-BE49-F238E27FC236}">
                <a16:creationId xmlns:a16="http://schemas.microsoft.com/office/drawing/2014/main" xmlns="" id="{758CC5FF-D437-0AA4-A961-22456A3312D8}"/>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73AE05E9-EA8F-F552-D872-8E61711BE850}"/>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479F920E-0EFE-E8FA-EFEB-FCE4D3BA0D26}"/>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C7ACE08F-B532-0F2A-69C9-2A6BDCC317D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F076DA5-E650-25CA-07F5-03F5DFBCBEB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A3B06595-30D7-B7B3-47AC-D1E9299EE624}"/>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F97BA9C7-7869-D434-DF26-20BDFE503C32}"/>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3A563849-452E-6DC0-1563-C555788797FD}"/>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317095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69BB2B-2B1A-5B5E-6F22-BC819A47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B5474CE-A57D-2A54-FDDB-F9FA39D47679}"/>
              </a:ext>
            </a:extLst>
          </p:cNvPr>
          <p:cNvSpPr>
            <a:spLocks noGrp="1"/>
          </p:cNvSpPr>
          <p:nvPr>
            <p:ph type="title"/>
          </p:nvPr>
        </p:nvSpPr>
        <p:spPr>
          <a:xfrm>
            <a:off x="457200" y="-2324316"/>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53EB2F98-DD85-5BD2-090A-B8DB89FBF325}"/>
              </a:ext>
            </a:extLst>
          </p:cNvPr>
          <p:cNvSpPr>
            <a:spLocks noGrp="1"/>
          </p:cNvSpPr>
          <p:nvPr>
            <p:ph idx="1"/>
          </p:nvPr>
        </p:nvSpPr>
        <p:spPr>
          <a:xfrm>
            <a:off x="413004" y="1570704"/>
            <a:ext cx="11365992" cy="4408678"/>
          </a:xfrm>
        </p:spPr>
        <p:txBody>
          <a:bodyPr>
            <a:noAutofit/>
          </a:bodyPr>
          <a:lstStyle/>
          <a:p>
            <a:pPr algn="ctr">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Category 3 : Deep Learning Algorithm based analysis </a:t>
            </a:r>
          </a:p>
          <a:p>
            <a:pPr algn="just">
              <a:spcBef>
                <a:spcPct val="0"/>
              </a:spcBef>
            </a:pPr>
            <a:endParaRPr lang="en-US" sz="2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400" dirty="0">
                <a:solidFill>
                  <a:srgbClr val="383C5B"/>
                </a:solidFill>
                <a:latin typeface="Times New Roman" panose="02020603050405020304" pitchFamily="18" charset="0"/>
                <a:ea typeface="Agrandir Narrow"/>
                <a:cs typeface="Times New Roman" panose="02020603050405020304" pitchFamily="18" charset="0"/>
                <a:sym typeface="Agrandir Narrow"/>
              </a:rPr>
              <a:t>[10] </a:t>
            </a:r>
            <a:r>
              <a:rPr lang="en-US" sz="2400" dirty="0" err="1">
                <a:solidFill>
                  <a:srgbClr val="383C5B"/>
                </a:solidFill>
                <a:latin typeface="Times New Roman" panose="02020603050405020304" pitchFamily="18" charset="0"/>
                <a:ea typeface="Agrandir Narrow"/>
                <a:cs typeface="Times New Roman" panose="02020603050405020304" pitchFamily="18" charset="0"/>
                <a:sym typeface="Agrandir Narrow"/>
              </a:rPr>
              <a:t>Yammanauru</a:t>
            </a:r>
            <a:r>
              <a:rPr lang="en-US" sz="2400" dirty="0">
                <a:solidFill>
                  <a:srgbClr val="383C5B"/>
                </a:solidFill>
                <a:latin typeface="Times New Roman" panose="02020603050405020304" pitchFamily="18" charset="0"/>
                <a:ea typeface="Agrandir Narrow"/>
                <a:cs typeface="Times New Roman" panose="02020603050405020304" pitchFamily="18" charset="0"/>
                <a:sym typeface="Agrandir Narrow"/>
              </a:rPr>
              <a:t> (2026) proposed a dual attention–enhanced YOLO model is proposed for accurate small-object detection in satellite imagery. The model preserves contextual and spatial information with minimal parameters, achieving high accuracy on challenging datasets.</a:t>
            </a:r>
          </a:p>
          <a:p>
            <a:pPr algn="just">
              <a:spcBef>
                <a:spcPct val="0"/>
              </a:spcBef>
            </a:pPr>
            <a:endParaRPr lang="en-US" sz="2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400" dirty="0">
                <a:solidFill>
                  <a:srgbClr val="383C5B"/>
                </a:solidFill>
                <a:latin typeface="Times New Roman" panose="02020603050405020304" pitchFamily="18" charset="0"/>
                <a:ea typeface="Agrandir Narrow"/>
                <a:cs typeface="Times New Roman" panose="02020603050405020304" pitchFamily="18" charset="0"/>
                <a:sym typeface="Agrandir Narrow"/>
              </a:rPr>
              <a:t>[11] Othman(2023) proposed  HB-YOLO, an improved YOLO framework with advanced feature extraction and attention mechanisms to enhance tiny object detection and tracking in satellite videos. </a:t>
            </a:r>
          </a:p>
          <a:p>
            <a:pPr algn="just">
              <a:spcBef>
                <a:spcPct val="0"/>
              </a:spcBef>
            </a:pPr>
            <a:endParaRPr lang="en-US" sz="2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4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4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4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4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6EE00F1C-A225-1A2A-1D52-C0674E4689F0}"/>
              </a:ext>
            </a:extLst>
          </p:cNvPr>
          <p:cNvSpPr>
            <a:spLocks noGrp="1"/>
          </p:cNvSpPr>
          <p:nvPr>
            <p:ph type="sldNum" sz="quarter" idx="12"/>
          </p:nvPr>
        </p:nvSpPr>
        <p:spPr/>
        <p:txBody>
          <a:bodyPr/>
          <a:lstStyle/>
          <a:p>
            <a:fld id="{C1FF6DA9-008F-8B48-92A6-B652298478BF}" type="slidenum">
              <a:rPr lang="en-US" smtClean="0"/>
              <a:t>7</a:t>
            </a:fld>
            <a:endParaRPr lang="en-US" dirty="0"/>
          </a:p>
        </p:txBody>
      </p:sp>
      <p:pic>
        <p:nvPicPr>
          <p:cNvPr id="6" name="Content Placeholder 7">
            <a:extLst>
              <a:ext uri="{FF2B5EF4-FFF2-40B4-BE49-F238E27FC236}">
                <a16:creationId xmlns:a16="http://schemas.microsoft.com/office/drawing/2014/main" xmlns="" id="{758CC5FF-D437-0AA4-A961-22456A3312D8}"/>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73AE05E9-EA8F-F552-D872-8E61711BE850}"/>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479F920E-0EFE-E8FA-EFEB-FCE4D3BA0D26}"/>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C7ACE08F-B532-0F2A-69C9-2A6BDCC317D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F076DA5-E650-25CA-07F5-03F5DFBCBEB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A3B06595-30D7-B7B3-47AC-D1E9299EE624}"/>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F97BA9C7-7869-D434-DF26-20BDFE503C32}"/>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3A563849-452E-6DC0-1563-C555788797FD}"/>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1863148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69BB2B-2B1A-5B5E-6F22-BC819A47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B5474CE-A57D-2A54-FDDB-F9FA39D47679}"/>
              </a:ext>
            </a:extLst>
          </p:cNvPr>
          <p:cNvSpPr>
            <a:spLocks noGrp="1"/>
          </p:cNvSpPr>
          <p:nvPr>
            <p:ph type="title"/>
          </p:nvPr>
        </p:nvSpPr>
        <p:spPr>
          <a:xfrm>
            <a:off x="457200" y="-2324316"/>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53EB2F98-DD85-5BD2-090A-B8DB89FBF325}"/>
              </a:ext>
            </a:extLst>
          </p:cNvPr>
          <p:cNvSpPr>
            <a:spLocks noGrp="1"/>
          </p:cNvSpPr>
          <p:nvPr>
            <p:ph idx="1"/>
          </p:nvPr>
        </p:nvSpPr>
        <p:spPr>
          <a:xfrm>
            <a:off x="180850" y="-201191"/>
            <a:ext cx="11365992" cy="4408678"/>
          </a:xfrm>
        </p:spPr>
        <p:txBody>
          <a:bodyPr>
            <a:noAutofit/>
          </a:bodyPr>
          <a:lstStyle/>
          <a:p>
            <a:pPr algn="ctr">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ctr">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ctr">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ctr">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Category 3 : Deep Learning Algorithm based analysis </a:t>
            </a:r>
          </a:p>
          <a:p>
            <a:pPr algn="ctr">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[16]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Ghandorh</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 et al.(2021)proposed a  lightweight fully convolutional neural network is proposed for real-time object recognition in multispectral satellite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imagery.The</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 model achieves high accuracy with fast prediction speed, supporting latency-sensitive satellite image analysis.</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[17] Yeung et al.(2021) proposed a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ResNet</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 an end-to-end model that jointly performs building segmentation and damage assessment from satellite/UAV imagery, achieving superior performance over traditional multi-stage methods</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6EE00F1C-A225-1A2A-1D52-C0674E4689F0}"/>
              </a:ext>
            </a:extLst>
          </p:cNvPr>
          <p:cNvSpPr>
            <a:spLocks noGrp="1"/>
          </p:cNvSpPr>
          <p:nvPr>
            <p:ph type="sldNum" sz="quarter" idx="12"/>
          </p:nvPr>
        </p:nvSpPr>
        <p:spPr/>
        <p:txBody>
          <a:bodyPr/>
          <a:lstStyle/>
          <a:p>
            <a:fld id="{C1FF6DA9-008F-8B48-92A6-B652298478BF}" type="slidenum">
              <a:rPr lang="en-US" smtClean="0"/>
              <a:t>8</a:t>
            </a:fld>
            <a:endParaRPr lang="en-US" dirty="0"/>
          </a:p>
        </p:txBody>
      </p:sp>
      <p:pic>
        <p:nvPicPr>
          <p:cNvPr id="6" name="Content Placeholder 7">
            <a:extLst>
              <a:ext uri="{FF2B5EF4-FFF2-40B4-BE49-F238E27FC236}">
                <a16:creationId xmlns:a16="http://schemas.microsoft.com/office/drawing/2014/main" xmlns="" id="{758CC5FF-D437-0AA4-A961-22456A3312D8}"/>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73AE05E9-EA8F-F552-D872-8E61711BE850}"/>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479F920E-0EFE-E8FA-EFEB-FCE4D3BA0D26}"/>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C7ACE08F-B532-0F2A-69C9-2A6BDCC317D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F076DA5-E650-25CA-07F5-03F5DFBCBEB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A3B06595-30D7-B7B3-47AC-D1E9299EE624}"/>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F97BA9C7-7869-D434-DF26-20BDFE503C32}"/>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3A563849-452E-6DC0-1563-C555788797FD}"/>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3829631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69BB2B-2B1A-5B5E-6F22-BC819A47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B5474CE-A57D-2A54-FDDB-F9FA39D47679}"/>
              </a:ext>
            </a:extLst>
          </p:cNvPr>
          <p:cNvSpPr>
            <a:spLocks noGrp="1"/>
          </p:cNvSpPr>
          <p:nvPr>
            <p:ph type="title"/>
          </p:nvPr>
        </p:nvSpPr>
        <p:spPr>
          <a:xfrm>
            <a:off x="457200" y="-2324316"/>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53EB2F98-DD85-5BD2-090A-B8DB89FBF325}"/>
              </a:ext>
            </a:extLst>
          </p:cNvPr>
          <p:cNvSpPr>
            <a:spLocks noGrp="1"/>
          </p:cNvSpPr>
          <p:nvPr>
            <p:ph idx="1"/>
          </p:nvPr>
        </p:nvSpPr>
        <p:spPr>
          <a:xfrm>
            <a:off x="180850" y="1129172"/>
            <a:ext cx="11365992" cy="4408678"/>
          </a:xfrm>
        </p:spPr>
        <p:txBody>
          <a:bodyPr>
            <a:noAutofit/>
          </a:bodyPr>
          <a:lstStyle/>
          <a:p>
            <a:pPr algn="ctr">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Category 3 : Deep Learning Algorithm based analysis </a:t>
            </a: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[18] Wei et al.(2017) proposed an SLS-CNN-based framework combining sea–land segmentation and deep learning to achieve robust and accurate ship detection in SAR imagery.</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[20] Wang(2019)proposed a study that uses deep learning CNN models for satellite image classification and shows that ResNet50 achieves the highest accuracy across multiple datasets.</a:t>
            </a: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6EE00F1C-A225-1A2A-1D52-C0674E4689F0}"/>
              </a:ext>
            </a:extLst>
          </p:cNvPr>
          <p:cNvSpPr>
            <a:spLocks noGrp="1"/>
          </p:cNvSpPr>
          <p:nvPr>
            <p:ph type="sldNum" sz="quarter" idx="12"/>
          </p:nvPr>
        </p:nvSpPr>
        <p:spPr/>
        <p:txBody>
          <a:bodyPr/>
          <a:lstStyle/>
          <a:p>
            <a:fld id="{C1FF6DA9-008F-8B48-92A6-B652298478BF}" type="slidenum">
              <a:rPr lang="en-US" smtClean="0"/>
              <a:t>9</a:t>
            </a:fld>
            <a:endParaRPr lang="en-US" dirty="0"/>
          </a:p>
        </p:txBody>
      </p:sp>
      <p:pic>
        <p:nvPicPr>
          <p:cNvPr id="6" name="Content Placeholder 7">
            <a:extLst>
              <a:ext uri="{FF2B5EF4-FFF2-40B4-BE49-F238E27FC236}">
                <a16:creationId xmlns:a16="http://schemas.microsoft.com/office/drawing/2014/main" xmlns="" id="{758CC5FF-D437-0AA4-A961-22456A3312D8}"/>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73AE05E9-EA8F-F552-D872-8E61711BE850}"/>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479F920E-0EFE-E8FA-EFEB-FCE4D3BA0D26}"/>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C7ACE08F-B532-0F2A-69C9-2A6BDCC317D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F076DA5-E650-25CA-07F5-03F5DFBCBEB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A3B06595-30D7-B7B3-47AC-D1E9299EE624}"/>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F97BA9C7-7869-D434-DF26-20BDFE503C32}"/>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3A563849-452E-6DC0-1563-C555788797FD}"/>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758671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69BB2B-2B1A-5B5E-6F22-BC819A47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B5474CE-A57D-2A54-FDDB-F9FA39D47679}"/>
              </a:ext>
            </a:extLst>
          </p:cNvPr>
          <p:cNvSpPr>
            <a:spLocks noGrp="1"/>
          </p:cNvSpPr>
          <p:nvPr>
            <p:ph type="title"/>
          </p:nvPr>
        </p:nvSpPr>
        <p:spPr>
          <a:xfrm>
            <a:off x="457200" y="-2324316"/>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53EB2F98-DD85-5BD2-090A-B8DB89FBF325}"/>
              </a:ext>
            </a:extLst>
          </p:cNvPr>
          <p:cNvSpPr>
            <a:spLocks noGrp="1"/>
          </p:cNvSpPr>
          <p:nvPr>
            <p:ph idx="1"/>
          </p:nvPr>
        </p:nvSpPr>
        <p:spPr>
          <a:xfrm>
            <a:off x="180850" y="1129172"/>
            <a:ext cx="11365992" cy="4408678"/>
          </a:xfrm>
        </p:spPr>
        <p:txBody>
          <a:bodyPr>
            <a:noAutofit/>
          </a:bodyPr>
          <a:lstStyle/>
          <a:p>
            <a:pPr algn="ctr">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Category 3 : Deep Learning Algorithm based analysis </a:t>
            </a:r>
          </a:p>
          <a:p>
            <a:pPr marL="0" indent="0" algn="just">
              <a:spcBef>
                <a:spcPct val="0"/>
              </a:spcBef>
              <a:buNone/>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[13] Kang et al.(2022) proposed an attention-based residual image fusion network that achieves superior infrared–visible fusion quality and outperforms traditional methods across multiple datasets.</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[14] Pang(2022) proposed an attention-enhanced semantic segmentation and edge detection approach for accurate road detection in high-resolution satellite images, producing sharp road boundaries and robust performance on imbalanced, real-world datasets.</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[15]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Hernandz</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 et al.(2021) proposed a machine learning-based framework using CGAN and semantic segmentation to achieve automatic 3D building reconstruction and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vectorization</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 from satellite imagery</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6EE00F1C-A225-1A2A-1D52-C0674E4689F0}"/>
              </a:ext>
            </a:extLst>
          </p:cNvPr>
          <p:cNvSpPr>
            <a:spLocks noGrp="1"/>
          </p:cNvSpPr>
          <p:nvPr>
            <p:ph type="sldNum" sz="quarter" idx="12"/>
          </p:nvPr>
        </p:nvSpPr>
        <p:spPr/>
        <p:txBody>
          <a:bodyPr/>
          <a:lstStyle/>
          <a:p>
            <a:fld id="{C1FF6DA9-008F-8B48-92A6-B652298478BF}" type="slidenum">
              <a:rPr lang="en-US" smtClean="0"/>
              <a:t>10</a:t>
            </a:fld>
            <a:endParaRPr lang="en-US" dirty="0"/>
          </a:p>
        </p:txBody>
      </p:sp>
      <p:pic>
        <p:nvPicPr>
          <p:cNvPr id="6" name="Content Placeholder 7">
            <a:extLst>
              <a:ext uri="{FF2B5EF4-FFF2-40B4-BE49-F238E27FC236}">
                <a16:creationId xmlns:a16="http://schemas.microsoft.com/office/drawing/2014/main" xmlns="" id="{758CC5FF-D437-0AA4-A961-22456A3312D8}"/>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73AE05E9-EA8F-F552-D872-8E61711BE850}"/>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479F920E-0EFE-E8FA-EFEB-FCE4D3BA0D26}"/>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C7ACE08F-B532-0F2A-69C9-2A6BDCC317D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F076DA5-E650-25CA-07F5-03F5DFBCBEB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A3B06595-30D7-B7B3-47AC-D1E9299EE624}"/>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F97BA9C7-7869-D434-DF26-20BDFE503C32}"/>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3A563849-452E-6DC0-1563-C555788797FD}"/>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1310797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69BB2B-2B1A-5B5E-6F22-BC819A47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B5474CE-A57D-2A54-FDDB-F9FA39D47679}"/>
              </a:ext>
            </a:extLst>
          </p:cNvPr>
          <p:cNvSpPr>
            <a:spLocks noGrp="1"/>
          </p:cNvSpPr>
          <p:nvPr>
            <p:ph type="title"/>
          </p:nvPr>
        </p:nvSpPr>
        <p:spPr>
          <a:xfrm>
            <a:off x="457200" y="-2324316"/>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53EB2F98-DD85-5BD2-090A-B8DB89FBF325}"/>
              </a:ext>
            </a:extLst>
          </p:cNvPr>
          <p:cNvSpPr>
            <a:spLocks noGrp="1"/>
          </p:cNvSpPr>
          <p:nvPr>
            <p:ph idx="1"/>
          </p:nvPr>
        </p:nvSpPr>
        <p:spPr>
          <a:xfrm>
            <a:off x="180850" y="1129172"/>
            <a:ext cx="11365992" cy="4408678"/>
          </a:xfrm>
        </p:spPr>
        <p:txBody>
          <a:bodyPr>
            <a:noAutofit/>
          </a:bodyPr>
          <a:lstStyle/>
          <a:p>
            <a:pPr algn="ctr">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Category 4 : Hybrid methods</a:t>
            </a:r>
          </a:p>
          <a:p>
            <a:pPr marL="0" indent="0" algn="just">
              <a:spcBef>
                <a:spcPct val="0"/>
              </a:spcBef>
              <a:buNone/>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[13] Pang(2022) proposed an attention-based residual image fusion network that achieves superior infrared–visible fusion quality and outperforms traditional methods across multiple datasets</a:t>
            </a:r>
            <a:r>
              <a:rPr lang="en-US" sz="2800" dirty="0" smtClean="0">
                <a:solidFill>
                  <a:srgbClr val="383C5B"/>
                </a:solidFill>
                <a:latin typeface="Times New Roman" panose="02020603050405020304" pitchFamily="18" charset="0"/>
                <a:ea typeface="Agrandir Narrow"/>
                <a:cs typeface="Times New Roman" panose="02020603050405020304" pitchFamily="18" charset="0"/>
                <a:sym typeface="Agrandir Narrow"/>
              </a:rPr>
              <a:t>.</a:t>
            </a: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[15]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Ghandorh</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 et al(2021)proposed a machine learning-based framework using CGAN and semantic segmentation to achieve automatic 3D building reconstruction and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vectorization</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 from satellite </a:t>
            </a:r>
            <a:r>
              <a:rPr lang="en-US" sz="2800" dirty="0" smtClean="0">
                <a:solidFill>
                  <a:srgbClr val="383C5B"/>
                </a:solidFill>
                <a:latin typeface="Times New Roman" panose="02020603050405020304" pitchFamily="18" charset="0"/>
                <a:ea typeface="Agrandir Narrow"/>
                <a:cs typeface="Times New Roman" panose="02020603050405020304" pitchFamily="18" charset="0"/>
                <a:sym typeface="Agrandir Narrow"/>
              </a:rPr>
              <a:t>imagery</a:t>
            </a: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[17] Wang(2021) proposed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ResNet</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 an end-to-end model that jointly performs building segmentation and damage assessment from satellite/UAV imagery, achieving superior performance over traditional multi-stage methods</a:t>
            </a: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6EE00F1C-A225-1A2A-1D52-C0674E4689F0}"/>
              </a:ext>
            </a:extLst>
          </p:cNvPr>
          <p:cNvSpPr>
            <a:spLocks noGrp="1"/>
          </p:cNvSpPr>
          <p:nvPr>
            <p:ph type="sldNum" sz="quarter" idx="12"/>
          </p:nvPr>
        </p:nvSpPr>
        <p:spPr/>
        <p:txBody>
          <a:bodyPr/>
          <a:lstStyle/>
          <a:p>
            <a:fld id="{C1FF6DA9-008F-8B48-92A6-B652298478BF}" type="slidenum">
              <a:rPr lang="en-US" smtClean="0"/>
              <a:t>11</a:t>
            </a:fld>
            <a:endParaRPr lang="en-US" dirty="0"/>
          </a:p>
        </p:txBody>
      </p:sp>
      <p:pic>
        <p:nvPicPr>
          <p:cNvPr id="6" name="Content Placeholder 7">
            <a:extLst>
              <a:ext uri="{FF2B5EF4-FFF2-40B4-BE49-F238E27FC236}">
                <a16:creationId xmlns:a16="http://schemas.microsoft.com/office/drawing/2014/main" xmlns="" id="{758CC5FF-D437-0AA4-A961-22456A3312D8}"/>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73AE05E9-EA8F-F552-D872-8E61711BE850}"/>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479F920E-0EFE-E8FA-EFEB-FCE4D3BA0D26}"/>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C7ACE08F-B532-0F2A-69C9-2A6BDCC317D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F076DA5-E650-25CA-07F5-03F5DFBCBEB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A3B06595-30D7-B7B3-47AC-D1E9299EE624}"/>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F97BA9C7-7869-D434-DF26-20BDFE503C32}"/>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3A563849-452E-6DC0-1563-C555788797FD}"/>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1653327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69BB2B-2B1A-5B5E-6F22-BC819A47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B5474CE-A57D-2A54-FDDB-F9FA39D47679}"/>
              </a:ext>
            </a:extLst>
          </p:cNvPr>
          <p:cNvSpPr>
            <a:spLocks noGrp="1"/>
          </p:cNvSpPr>
          <p:nvPr>
            <p:ph type="title"/>
          </p:nvPr>
        </p:nvSpPr>
        <p:spPr>
          <a:xfrm>
            <a:off x="457200" y="-2324316"/>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53EB2F98-DD85-5BD2-090A-B8DB89FBF325}"/>
              </a:ext>
            </a:extLst>
          </p:cNvPr>
          <p:cNvSpPr>
            <a:spLocks noGrp="1"/>
          </p:cNvSpPr>
          <p:nvPr>
            <p:ph idx="1"/>
          </p:nvPr>
        </p:nvSpPr>
        <p:spPr>
          <a:xfrm>
            <a:off x="180850" y="1129172"/>
            <a:ext cx="11365992" cy="4408678"/>
          </a:xfrm>
        </p:spPr>
        <p:txBody>
          <a:bodyPr>
            <a:noAutofit/>
          </a:bodyPr>
          <a:lstStyle/>
          <a:p>
            <a:pPr algn="ctr">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Category 4 :Hybrid methods</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[10]</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nYammanuru</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(2026) proposed a dual attention–enhanced YOLO model is proposed for accurate small-object detection in satellite imagery. The model preserves contextual and spatial information with minimal parameters, achieving high accuracy on challenging datasets.</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[11]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Sedeh</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(2026) proposed a </a:t>
            </a:r>
            <a:r>
              <a:rPr lang="en-US" sz="2800" dirty="0" err="1">
                <a:solidFill>
                  <a:srgbClr val="383C5B"/>
                </a:solidFill>
                <a:latin typeface="Times New Roman" panose="02020603050405020304" pitchFamily="18" charset="0"/>
                <a:ea typeface="Agrandir Narrow"/>
                <a:cs typeface="Times New Roman" panose="02020603050405020304" pitchFamily="18" charset="0"/>
                <a:sym typeface="Agrandir Narrow"/>
              </a:rPr>
              <a:t>EdgePVM</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 a server-less satellite edge-computing framework that performs efficient onboard change detection using a parallel Siamese Vision MAMBA model to reduce latency and reliance on ground-based processing.</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[19] Othman(2023) proposed HB-YOLO, an improved YOLO framework with advanced feature extraction and attention mechanisms to enhance tiny object detection and tracking in satellite videos</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6EE00F1C-A225-1A2A-1D52-C0674E4689F0}"/>
              </a:ext>
            </a:extLst>
          </p:cNvPr>
          <p:cNvSpPr>
            <a:spLocks noGrp="1"/>
          </p:cNvSpPr>
          <p:nvPr>
            <p:ph type="sldNum" sz="quarter" idx="12"/>
          </p:nvPr>
        </p:nvSpPr>
        <p:spPr/>
        <p:txBody>
          <a:bodyPr/>
          <a:lstStyle/>
          <a:p>
            <a:fld id="{C1FF6DA9-008F-8B48-92A6-B652298478BF}" type="slidenum">
              <a:rPr lang="en-US" smtClean="0"/>
              <a:t>12</a:t>
            </a:fld>
            <a:endParaRPr lang="en-US" dirty="0"/>
          </a:p>
        </p:txBody>
      </p:sp>
      <p:pic>
        <p:nvPicPr>
          <p:cNvPr id="6" name="Content Placeholder 7">
            <a:extLst>
              <a:ext uri="{FF2B5EF4-FFF2-40B4-BE49-F238E27FC236}">
                <a16:creationId xmlns:a16="http://schemas.microsoft.com/office/drawing/2014/main" xmlns="" id="{758CC5FF-D437-0AA4-A961-22456A3312D8}"/>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73AE05E9-EA8F-F552-D872-8E61711BE850}"/>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479F920E-0EFE-E8FA-EFEB-FCE4D3BA0D26}"/>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C7ACE08F-B532-0F2A-69C9-2A6BDCC317D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F076DA5-E650-25CA-07F5-03F5DFBCBEB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A3B06595-30D7-B7B3-47AC-D1E9299EE624}"/>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F97BA9C7-7869-D434-DF26-20BDFE503C32}"/>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3A563849-452E-6DC0-1563-C555788797FD}"/>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34367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69BB2B-2B1A-5B5E-6F22-BC819A47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B5474CE-A57D-2A54-FDDB-F9FA39D47679}"/>
              </a:ext>
            </a:extLst>
          </p:cNvPr>
          <p:cNvSpPr>
            <a:spLocks noGrp="1"/>
          </p:cNvSpPr>
          <p:nvPr>
            <p:ph type="title"/>
          </p:nvPr>
        </p:nvSpPr>
        <p:spPr>
          <a:xfrm>
            <a:off x="457200" y="-2324316"/>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53EB2F98-DD85-5BD2-090A-B8DB89FBF325}"/>
              </a:ext>
            </a:extLst>
          </p:cNvPr>
          <p:cNvSpPr>
            <a:spLocks noGrp="1"/>
          </p:cNvSpPr>
          <p:nvPr>
            <p:ph idx="1"/>
          </p:nvPr>
        </p:nvSpPr>
        <p:spPr>
          <a:xfrm>
            <a:off x="457200" y="1384244"/>
            <a:ext cx="11365992" cy="4408678"/>
          </a:xfrm>
        </p:spPr>
        <p:txBody>
          <a:bodyPr>
            <a:noAutofit/>
          </a:bodyPr>
          <a:lstStyle/>
          <a:p>
            <a:pPr algn="ctr">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R</a:t>
            </a:r>
            <a:r>
              <a:rPr lang="en-US" sz="2800" b="1" dirty="0" smtClean="0">
                <a:solidFill>
                  <a:srgbClr val="383C5B"/>
                </a:solidFill>
                <a:latin typeface="Times New Roman" panose="02020603050405020304" pitchFamily="18" charset="0"/>
                <a:ea typeface="Agrandir Narrow"/>
                <a:cs typeface="Times New Roman" panose="02020603050405020304" pitchFamily="18" charset="0"/>
                <a:sym typeface="Agrandir Narrow"/>
              </a:rPr>
              <a:t>esearch Gap</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marL="685800" indent="-685800" algn="just">
              <a:spcBef>
                <a:spcPct val="0"/>
              </a:spcBef>
              <a:buFont typeface="Wingdings" panose="05000000000000000000" pitchFamily="2" charset="2"/>
              <a:buChar char="q"/>
            </a:pPr>
            <a:r>
              <a:rPr lang="en-US" sz="2800" dirty="0" smtClean="0">
                <a:solidFill>
                  <a:srgbClr val="383C5B"/>
                </a:solidFill>
                <a:latin typeface="Times New Roman" panose="02020603050405020304" pitchFamily="18" charset="0"/>
                <a:ea typeface="Agrandir Narrow"/>
                <a:cs typeface="Times New Roman" panose="02020603050405020304" pitchFamily="18" charset="0"/>
                <a:sym typeface="Agrandir Narrow"/>
              </a:rPr>
              <a:t>[</a:t>
            </a: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Lack of unified End to End models</a:t>
            </a:r>
          </a:p>
          <a:p>
            <a:pPr marL="685800" indent="-685800" algn="just">
              <a:spcBef>
                <a:spcPct val="0"/>
              </a:spcBef>
              <a:buFont typeface="Wingdings" panose="05000000000000000000" pitchFamily="2" charset="2"/>
              <a:buChar char="q"/>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Limited generalization across diverse datasets and conditions</a:t>
            </a:r>
          </a:p>
          <a:p>
            <a:pPr marL="685800" indent="-685800" algn="just">
              <a:spcBef>
                <a:spcPct val="0"/>
              </a:spcBef>
              <a:buFont typeface="Wingdings" panose="05000000000000000000" pitchFamily="2" charset="2"/>
              <a:buChar char="q"/>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High computational cost and resource dependency</a:t>
            </a:r>
          </a:p>
          <a:p>
            <a:pPr marL="685800" indent="-685800" algn="just">
              <a:spcBef>
                <a:spcPct val="0"/>
              </a:spcBef>
              <a:buFont typeface="Wingdings" panose="05000000000000000000" pitchFamily="2" charset="2"/>
              <a:buChar char="q"/>
            </a:pPr>
            <a:r>
              <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rPr>
              <a:t>Inefficiency in detecting small and complex objects </a:t>
            </a: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endPar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algn="just">
              <a:spcBef>
                <a:spcPct val="0"/>
              </a:spcBef>
            </a:pPr>
            <a:r>
              <a:rPr lang="en-US" sz="2800" b="1" dirty="0">
                <a:solidFill>
                  <a:srgbClr val="383C5B"/>
                </a:solidFill>
                <a:latin typeface="Times New Roman" panose="02020603050405020304" pitchFamily="18" charset="0"/>
                <a:ea typeface="Agrandir Narrow"/>
                <a:cs typeface="Times New Roman" panose="02020603050405020304" pitchFamily="18" charset="0"/>
                <a:sym typeface="Agrandir Narrow"/>
              </a:rPr>
              <a:t> </a:t>
            </a:r>
          </a:p>
        </p:txBody>
      </p:sp>
      <p:sp>
        <p:nvSpPr>
          <p:cNvPr id="5" name="Slide Number Placeholder 4">
            <a:extLst>
              <a:ext uri="{FF2B5EF4-FFF2-40B4-BE49-F238E27FC236}">
                <a16:creationId xmlns:a16="http://schemas.microsoft.com/office/drawing/2014/main" xmlns="" id="{6EE00F1C-A225-1A2A-1D52-C0674E4689F0}"/>
              </a:ext>
            </a:extLst>
          </p:cNvPr>
          <p:cNvSpPr>
            <a:spLocks noGrp="1"/>
          </p:cNvSpPr>
          <p:nvPr>
            <p:ph type="sldNum" sz="quarter" idx="12"/>
          </p:nvPr>
        </p:nvSpPr>
        <p:spPr/>
        <p:txBody>
          <a:bodyPr/>
          <a:lstStyle/>
          <a:p>
            <a:fld id="{C1FF6DA9-008F-8B48-92A6-B652298478BF}" type="slidenum">
              <a:rPr lang="en-US" smtClean="0"/>
              <a:t>13</a:t>
            </a:fld>
            <a:endParaRPr lang="en-US" dirty="0"/>
          </a:p>
        </p:txBody>
      </p:sp>
      <p:pic>
        <p:nvPicPr>
          <p:cNvPr id="6" name="Content Placeholder 7">
            <a:extLst>
              <a:ext uri="{FF2B5EF4-FFF2-40B4-BE49-F238E27FC236}">
                <a16:creationId xmlns:a16="http://schemas.microsoft.com/office/drawing/2014/main" xmlns="" id="{758CC5FF-D437-0AA4-A961-22456A3312D8}"/>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73AE05E9-EA8F-F552-D872-8E61711BE850}"/>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479F920E-0EFE-E8FA-EFEB-FCE4D3BA0D26}"/>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C7ACE08F-B532-0F2A-69C9-2A6BDCC317DD}"/>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F076DA5-E650-25CA-07F5-03F5DFBCBEB0}"/>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A3B06595-30D7-B7B3-47AC-D1E9299EE624}"/>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F97BA9C7-7869-D434-DF26-20BDFE503C32}"/>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3A563849-452E-6DC0-1563-C555788797FD}"/>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1893286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D3A20E-8A86-E561-8B71-11D8CD214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0B5F3A-DD93-B607-AB10-79789474FDCA}"/>
              </a:ext>
            </a:extLst>
          </p:cNvPr>
          <p:cNvSpPr>
            <a:spLocks noGrp="1"/>
          </p:cNvSpPr>
          <p:nvPr>
            <p:ph type="title"/>
          </p:nvPr>
        </p:nvSpPr>
        <p:spPr>
          <a:xfrm>
            <a:off x="457200" y="1076610"/>
            <a:ext cx="11365992" cy="679038"/>
          </a:xfrm>
        </p:spPr>
        <p:txBody>
          <a:bodyPr>
            <a:normAutofit fontScale="90000"/>
          </a:bodyPr>
          <a:lstStyle/>
          <a:p>
            <a:pPr>
              <a:lnSpc>
                <a:spcPts val="10296"/>
              </a:lnSpc>
            </a:pPr>
            <a:r>
              <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rPr>
              <a:t>Problem Statement</a:t>
            </a:r>
            <a:endPar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endParaRPr>
          </a:p>
        </p:txBody>
      </p:sp>
      <p:sp>
        <p:nvSpPr>
          <p:cNvPr id="3" name="Content Placeholder 2">
            <a:extLst>
              <a:ext uri="{FF2B5EF4-FFF2-40B4-BE49-F238E27FC236}">
                <a16:creationId xmlns:a16="http://schemas.microsoft.com/office/drawing/2014/main" xmlns="" id="{19B17746-2028-7DFC-04AC-E44D2859DB1D}"/>
              </a:ext>
            </a:extLst>
          </p:cNvPr>
          <p:cNvSpPr>
            <a:spLocks noGrp="1"/>
          </p:cNvSpPr>
          <p:nvPr>
            <p:ph idx="1"/>
          </p:nvPr>
        </p:nvSpPr>
        <p:spPr>
          <a:xfrm>
            <a:off x="457200" y="2704417"/>
            <a:ext cx="11365992" cy="4408678"/>
          </a:xfrm>
        </p:spPr>
        <p:txBody>
          <a:bodyPr/>
          <a:lstStyle/>
          <a:p>
            <a:pPr algn="just">
              <a:spcBef>
                <a:spcPct val="0"/>
              </a:spcBef>
            </a:pPr>
            <a:r>
              <a:rPr lang="en-US" dirty="0">
                <a:solidFill>
                  <a:srgbClr val="383C5B"/>
                </a:solidFill>
                <a:latin typeface="Times New Roman" panose="02020603050405020304" pitchFamily="18" charset="0"/>
                <a:ea typeface="Agrandir Narrow"/>
                <a:cs typeface="Times New Roman" panose="02020603050405020304" pitchFamily="18" charset="0"/>
                <a:sym typeface="Agrandir Narrow"/>
              </a:rPr>
              <a:t>To design and implement a system for accurate image segmentation and object detection from satellite imagery with reduced latency using lightweight Deep Learning models</a:t>
            </a:r>
          </a:p>
        </p:txBody>
      </p:sp>
      <p:sp>
        <p:nvSpPr>
          <p:cNvPr id="5" name="Slide Number Placeholder 4">
            <a:extLst>
              <a:ext uri="{FF2B5EF4-FFF2-40B4-BE49-F238E27FC236}">
                <a16:creationId xmlns:a16="http://schemas.microsoft.com/office/drawing/2014/main" xmlns="" id="{9799D511-1219-A9B5-5FAC-12CF499D94B2}"/>
              </a:ext>
            </a:extLst>
          </p:cNvPr>
          <p:cNvSpPr>
            <a:spLocks noGrp="1"/>
          </p:cNvSpPr>
          <p:nvPr>
            <p:ph type="sldNum" sz="quarter" idx="12"/>
          </p:nvPr>
        </p:nvSpPr>
        <p:spPr/>
        <p:txBody>
          <a:bodyPr/>
          <a:lstStyle/>
          <a:p>
            <a:fld id="{C1FF6DA9-008F-8B48-92A6-B652298478BF}" type="slidenum">
              <a:rPr lang="en-US" smtClean="0"/>
              <a:t>14</a:t>
            </a:fld>
            <a:endParaRPr lang="en-US" dirty="0"/>
          </a:p>
        </p:txBody>
      </p:sp>
      <p:pic>
        <p:nvPicPr>
          <p:cNvPr id="6" name="Content Placeholder 7">
            <a:extLst>
              <a:ext uri="{FF2B5EF4-FFF2-40B4-BE49-F238E27FC236}">
                <a16:creationId xmlns:a16="http://schemas.microsoft.com/office/drawing/2014/main" xmlns="" id="{DEB1420C-D6F8-67AB-EE5C-03E67122E8F6}"/>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FF0D4540-0D03-1698-8EFF-B667C075436B}"/>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5937E9BB-6A52-8FA6-C3F1-C27B53ECDBCC}"/>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6748774A-1B33-CCF1-FA02-3D378F869592}"/>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6B9D15A-DA1F-BDC3-F6D3-3E6FE8554AE5}"/>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245BC48B-A2B6-2712-900E-FCCCC1AA0773}"/>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3A9B14F8-9ACA-7841-81F4-1AEAB9457803}"/>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95E27AA9-A3D9-E0AC-D2B1-0034D3F6D043}"/>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1250227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D3A20E-8A86-E561-8B71-11D8CD214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0B5F3A-DD93-B607-AB10-79789474FDCA}"/>
              </a:ext>
            </a:extLst>
          </p:cNvPr>
          <p:cNvSpPr>
            <a:spLocks noGrp="1"/>
          </p:cNvSpPr>
          <p:nvPr>
            <p:ph type="title"/>
          </p:nvPr>
        </p:nvSpPr>
        <p:spPr>
          <a:xfrm>
            <a:off x="457200" y="1076610"/>
            <a:ext cx="11365992" cy="679038"/>
          </a:xfrm>
        </p:spPr>
        <p:txBody>
          <a:bodyPr>
            <a:normAutofit fontScale="90000"/>
          </a:bodyPr>
          <a:lstStyle/>
          <a:p>
            <a:pPr>
              <a:lnSpc>
                <a:spcPts val="10296"/>
              </a:lnSpc>
            </a:pPr>
            <a:r>
              <a:rPr lang="en-US" b="1" dirty="0" smtClean="0">
                <a:solidFill>
                  <a:srgbClr val="FF0000"/>
                </a:solidFill>
                <a:latin typeface="Times New Roman" panose="02020603050405020304" pitchFamily="18" charset="0"/>
                <a:ea typeface="Gill Sans Bold"/>
                <a:cs typeface="Times New Roman" panose="02020603050405020304" pitchFamily="18" charset="0"/>
                <a:sym typeface="Gill Sans Bold"/>
              </a:rPr>
              <a:t>Proposed solution</a:t>
            </a:r>
            <a:endPar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endParaRPr>
          </a:p>
        </p:txBody>
      </p:sp>
      <p:sp>
        <p:nvSpPr>
          <p:cNvPr id="3" name="Content Placeholder 2">
            <a:extLst>
              <a:ext uri="{FF2B5EF4-FFF2-40B4-BE49-F238E27FC236}">
                <a16:creationId xmlns:a16="http://schemas.microsoft.com/office/drawing/2014/main" xmlns="" id="{19B17746-2028-7DFC-04AC-E44D2859DB1D}"/>
              </a:ext>
            </a:extLst>
          </p:cNvPr>
          <p:cNvSpPr>
            <a:spLocks noGrp="1"/>
          </p:cNvSpPr>
          <p:nvPr>
            <p:ph idx="1"/>
          </p:nvPr>
        </p:nvSpPr>
        <p:spPr>
          <a:xfrm>
            <a:off x="457200" y="2704417"/>
            <a:ext cx="11365992" cy="4408678"/>
          </a:xfrm>
        </p:spPr>
        <p:txBody>
          <a:bodyPr/>
          <a:lstStyle/>
          <a:p>
            <a:pPr algn="just">
              <a:spcBef>
                <a:spcPct val="0"/>
              </a:spcBef>
            </a:pPr>
            <a:r>
              <a:rPr lang="en-US" dirty="0">
                <a:solidFill>
                  <a:srgbClr val="383C5B"/>
                </a:solidFill>
                <a:latin typeface="Times New Roman" panose="02020603050405020304" pitchFamily="18" charset="0"/>
                <a:ea typeface="Agrandir Narrow"/>
                <a:cs typeface="Times New Roman" panose="02020603050405020304" pitchFamily="18" charset="0"/>
                <a:sym typeface="Agrandir Narrow"/>
              </a:rPr>
              <a:t>	To overcome the limitations of cloud-based satellite image analysis, this project aims to design a lightweight deep learning framework using Sequential approach(U-net &amp; </a:t>
            </a:r>
            <a:r>
              <a:rPr lang="en-US" dirty="0" err="1">
                <a:solidFill>
                  <a:srgbClr val="383C5B"/>
                </a:solidFill>
                <a:latin typeface="Times New Roman" panose="02020603050405020304" pitchFamily="18" charset="0"/>
                <a:ea typeface="Agrandir Narrow"/>
                <a:cs typeface="Times New Roman" panose="02020603050405020304" pitchFamily="18" charset="0"/>
                <a:sym typeface="Agrandir Narrow"/>
              </a:rPr>
              <a:t>ResNet</a:t>
            </a:r>
            <a:r>
              <a:rPr lang="en-US" dirty="0">
                <a:solidFill>
                  <a:srgbClr val="383C5B"/>
                </a:solidFill>
                <a:latin typeface="Times New Roman" panose="02020603050405020304" pitchFamily="18" charset="0"/>
                <a:ea typeface="Agrandir Narrow"/>
                <a:cs typeface="Times New Roman" panose="02020603050405020304" pitchFamily="18" charset="0"/>
                <a:sym typeface="Agrandir Narrow"/>
              </a:rPr>
              <a:t>) to perform efficient image segmentation, object detection, and classification with reduced latency and improved performance.</a:t>
            </a:r>
            <a:endParaRPr lang="en-US"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p:txBody>
      </p:sp>
      <p:sp>
        <p:nvSpPr>
          <p:cNvPr id="5" name="Slide Number Placeholder 4">
            <a:extLst>
              <a:ext uri="{FF2B5EF4-FFF2-40B4-BE49-F238E27FC236}">
                <a16:creationId xmlns:a16="http://schemas.microsoft.com/office/drawing/2014/main" xmlns="" id="{9799D511-1219-A9B5-5FAC-12CF499D94B2}"/>
              </a:ext>
            </a:extLst>
          </p:cNvPr>
          <p:cNvSpPr>
            <a:spLocks noGrp="1"/>
          </p:cNvSpPr>
          <p:nvPr>
            <p:ph type="sldNum" sz="quarter" idx="12"/>
          </p:nvPr>
        </p:nvSpPr>
        <p:spPr/>
        <p:txBody>
          <a:bodyPr/>
          <a:lstStyle/>
          <a:p>
            <a:fld id="{C1FF6DA9-008F-8B48-92A6-B652298478BF}" type="slidenum">
              <a:rPr lang="en-US" smtClean="0"/>
              <a:t>15</a:t>
            </a:fld>
            <a:endParaRPr lang="en-US" dirty="0"/>
          </a:p>
        </p:txBody>
      </p:sp>
      <p:pic>
        <p:nvPicPr>
          <p:cNvPr id="6" name="Content Placeholder 7">
            <a:extLst>
              <a:ext uri="{FF2B5EF4-FFF2-40B4-BE49-F238E27FC236}">
                <a16:creationId xmlns:a16="http://schemas.microsoft.com/office/drawing/2014/main" xmlns="" id="{DEB1420C-D6F8-67AB-EE5C-03E67122E8F6}"/>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FF0D4540-0D03-1698-8EFF-B667C075436B}"/>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5937E9BB-6A52-8FA6-C3F1-C27B53ECDBCC}"/>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6748774A-1B33-CCF1-FA02-3D378F869592}"/>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6B9D15A-DA1F-BDC3-F6D3-3E6FE8554AE5}"/>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245BC48B-A2B6-2712-900E-FCCCC1AA0773}"/>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3A9B14F8-9ACA-7841-81F4-1AEAB9457803}"/>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95E27AA9-A3D9-E0AC-D2B1-0034D3F6D043}"/>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285543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D3A20E-8A86-E561-8B71-11D8CD214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0B5F3A-DD93-B607-AB10-79789474FDCA}"/>
              </a:ext>
            </a:extLst>
          </p:cNvPr>
          <p:cNvSpPr>
            <a:spLocks noGrp="1"/>
          </p:cNvSpPr>
          <p:nvPr>
            <p:ph type="title"/>
          </p:nvPr>
        </p:nvSpPr>
        <p:spPr>
          <a:xfrm>
            <a:off x="457200" y="1076610"/>
            <a:ext cx="11365992" cy="679038"/>
          </a:xfrm>
        </p:spPr>
        <p:txBody>
          <a:bodyPr>
            <a:normAutofit fontScale="90000"/>
          </a:bodyPr>
          <a:lstStyle/>
          <a:p>
            <a:pPr>
              <a:lnSpc>
                <a:spcPts val="10296"/>
              </a:lnSpc>
            </a:pPr>
            <a:r>
              <a:rPr lang="en-US" b="1" dirty="0" smtClean="0">
                <a:solidFill>
                  <a:srgbClr val="FF0000"/>
                </a:solidFill>
                <a:latin typeface="Times New Roman" panose="02020603050405020304" pitchFamily="18" charset="0"/>
                <a:ea typeface="Gill Sans Bold"/>
                <a:cs typeface="Times New Roman" panose="02020603050405020304" pitchFamily="18" charset="0"/>
                <a:sym typeface="Gill Sans Bold"/>
              </a:rPr>
              <a:t>Flow Diagram</a:t>
            </a:r>
            <a:endPar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endParaRPr>
          </a:p>
        </p:txBody>
      </p:sp>
      <p:sp>
        <p:nvSpPr>
          <p:cNvPr id="3" name="Content Placeholder 2">
            <a:extLst>
              <a:ext uri="{FF2B5EF4-FFF2-40B4-BE49-F238E27FC236}">
                <a16:creationId xmlns:a16="http://schemas.microsoft.com/office/drawing/2014/main" xmlns="" id="{19B17746-2028-7DFC-04AC-E44D2859DB1D}"/>
              </a:ext>
            </a:extLst>
          </p:cNvPr>
          <p:cNvSpPr>
            <a:spLocks noGrp="1"/>
          </p:cNvSpPr>
          <p:nvPr>
            <p:ph idx="1"/>
          </p:nvPr>
        </p:nvSpPr>
        <p:spPr>
          <a:xfrm>
            <a:off x="180850" y="7930178"/>
            <a:ext cx="11365992" cy="4408678"/>
          </a:xfrm>
        </p:spPr>
        <p:txBody>
          <a:bodyPr/>
          <a:lstStyle/>
          <a:p>
            <a:pPr algn="just">
              <a:spcBef>
                <a:spcPct val="0"/>
              </a:spcBef>
            </a:pPr>
            <a:endParaRPr lang="en-US"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p:txBody>
      </p:sp>
      <p:sp>
        <p:nvSpPr>
          <p:cNvPr id="5" name="Slide Number Placeholder 4">
            <a:extLst>
              <a:ext uri="{FF2B5EF4-FFF2-40B4-BE49-F238E27FC236}">
                <a16:creationId xmlns:a16="http://schemas.microsoft.com/office/drawing/2014/main" xmlns="" id="{9799D511-1219-A9B5-5FAC-12CF499D94B2}"/>
              </a:ext>
            </a:extLst>
          </p:cNvPr>
          <p:cNvSpPr>
            <a:spLocks noGrp="1"/>
          </p:cNvSpPr>
          <p:nvPr>
            <p:ph type="sldNum" sz="quarter" idx="12"/>
          </p:nvPr>
        </p:nvSpPr>
        <p:spPr/>
        <p:txBody>
          <a:bodyPr/>
          <a:lstStyle/>
          <a:p>
            <a:fld id="{C1FF6DA9-008F-8B48-92A6-B652298478BF}" type="slidenum">
              <a:rPr lang="en-US" smtClean="0"/>
              <a:t>16</a:t>
            </a:fld>
            <a:endParaRPr lang="en-US" dirty="0"/>
          </a:p>
        </p:txBody>
      </p:sp>
      <p:pic>
        <p:nvPicPr>
          <p:cNvPr id="6" name="Content Placeholder 7">
            <a:extLst>
              <a:ext uri="{FF2B5EF4-FFF2-40B4-BE49-F238E27FC236}">
                <a16:creationId xmlns:a16="http://schemas.microsoft.com/office/drawing/2014/main" xmlns="" id="{DEB1420C-D6F8-67AB-EE5C-03E67122E8F6}"/>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FF0D4540-0D03-1698-8EFF-B667C075436B}"/>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5937E9BB-6A52-8FA6-C3F1-C27B53ECDBCC}"/>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6748774A-1B33-CCF1-FA02-3D378F869592}"/>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6B9D15A-DA1F-BDC3-F6D3-3E6FE8554AE5}"/>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245BC48B-A2B6-2712-900E-FCCCC1AA0773}"/>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3A9B14F8-9ACA-7841-81F4-1AEAB9457803}"/>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95E27AA9-A3D9-E0AC-D2B1-0034D3F6D043}"/>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pic>
        <p:nvPicPr>
          <p:cNvPr id="14" name="Picture 13"/>
          <p:cNvPicPr>
            <a:picLocks noChangeAspect="1"/>
          </p:cNvPicPr>
          <p:nvPr/>
        </p:nvPicPr>
        <p:blipFill>
          <a:blip r:embed="rId7"/>
          <a:stretch>
            <a:fillRect/>
          </a:stretch>
        </p:blipFill>
        <p:spPr>
          <a:xfrm>
            <a:off x="2393377" y="2343835"/>
            <a:ext cx="7493638" cy="3578505"/>
          </a:xfrm>
          <a:prstGeom prst="rect">
            <a:avLst/>
          </a:prstGeom>
        </p:spPr>
      </p:pic>
    </p:spTree>
    <p:extLst>
      <p:ext uri="{BB962C8B-B14F-4D97-AF65-F5344CB8AC3E}">
        <p14:creationId xmlns:p14="http://schemas.microsoft.com/office/powerpoint/2010/main" val="4109087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D3A20E-8A86-E561-8B71-11D8CD214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0B5F3A-DD93-B607-AB10-79789474FDCA}"/>
              </a:ext>
            </a:extLst>
          </p:cNvPr>
          <p:cNvSpPr>
            <a:spLocks noGrp="1"/>
          </p:cNvSpPr>
          <p:nvPr>
            <p:ph type="title"/>
          </p:nvPr>
        </p:nvSpPr>
        <p:spPr>
          <a:xfrm>
            <a:off x="457200" y="1076610"/>
            <a:ext cx="11365992" cy="679038"/>
          </a:xfrm>
        </p:spPr>
        <p:txBody>
          <a:bodyPr>
            <a:normAutofit fontScale="90000"/>
          </a:bodyPr>
          <a:lstStyle/>
          <a:p>
            <a:pPr>
              <a:lnSpc>
                <a:spcPts val="10296"/>
              </a:lnSpc>
            </a:pPr>
            <a:r>
              <a:rPr lang="en-US" b="1" dirty="0" smtClean="0">
                <a:solidFill>
                  <a:srgbClr val="FF0000"/>
                </a:solidFill>
                <a:latin typeface="Times New Roman" panose="02020603050405020304" pitchFamily="18" charset="0"/>
                <a:ea typeface="Gill Sans Bold"/>
                <a:cs typeface="Times New Roman" panose="02020603050405020304" pitchFamily="18" charset="0"/>
                <a:sym typeface="Gill Sans Bold"/>
              </a:rPr>
              <a:t>U-Net Architecture</a:t>
            </a:r>
            <a:endPar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endParaRPr>
          </a:p>
        </p:txBody>
      </p:sp>
      <p:sp>
        <p:nvSpPr>
          <p:cNvPr id="3" name="Content Placeholder 2">
            <a:extLst>
              <a:ext uri="{FF2B5EF4-FFF2-40B4-BE49-F238E27FC236}">
                <a16:creationId xmlns:a16="http://schemas.microsoft.com/office/drawing/2014/main" xmlns="" id="{19B17746-2028-7DFC-04AC-E44D2859DB1D}"/>
              </a:ext>
            </a:extLst>
          </p:cNvPr>
          <p:cNvSpPr>
            <a:spLocks noGrp="1"/>
          </p:cNvSpPr>
          <p:nvPr>
            <p:ph idx="1"/>
          </p:nvPr>
        </p:nvSpPr>
        <p:spPr>
          <a:xfrm>
            <a:off x="180850" y="7930178"/>
            <a:ext cx="11365992" cy="4408678"/>
          </a:xfrm>
        </p:spPr>
        <p:txBody>
          <a:bodyPr/>
          <a:lstStyle/>
          <a:p>
            <a:pPr algn="just">
              <a:spcBef>
                <a:spcPct val="0"/>
              </a:spcBef>
            </a:pPr>
            <a:endParaRPr lang="en-US"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p:txBody>
      </p:sp>
      <p:sp>
        <p:nvSpPr>
          <p:cNvPr id="5" name="Slide Number Placeholder 4">
            <a:extLst>
              <a:ext uri="{FF2B5EF4-FFF2-40B4-BE49-F238E27FC236}">
                <a16:creationId xmlns:a16="http://schemas.microsoft.com/office/drawing/2014/main" xmlns="" id="{9799D511-1219-A9B5-5FAC-12CF499D94B2}"/>
              </a:ext>
            </a:extLst>
          </p:cNvPr>
          <p:cNvSpPr>
            <a:spLocks noGrp="1"/>
          </p:cNvSpPr>
          <p:nvPr>
            <p:ph type="sldNum" sz="quarter" idx="12"/>
          </p:nvPr>
        </p:nvSpPr>
        <p:spPr/>
        <p:txBody>
          <a:bodyPr/>
          <a:lstStyle/>
          <a:p>
            <a:fld id="{C1FF6DA9-008F-8B48-92A6-B652298478BF}" type="slidenum">
              <a:rPr lang="en-US" smtClean="0"/>
              <a:t>17</a:t>
            </a:fld>
            <a:endParaRPr lang="en-US" dirty="0"/>
          </a:p>
        </p:txBody>
      </p:sp>
      <p:pic>
        <p:nvPicPr>
          <p:cNvPr id="6" name="Content Placeholder 7">
            <a:extLst>
              <a:ext uri="{FF2B5EF4-FFF2-40B4-BE49-F238E27FC236}">
                <a16:creationId xmlns:a16="http://schemas.microsoft.com/office/drawing/2014/main" xmlns="" id="{DEB1420C-D6F8-67AB-EE5C-03E67122E8F6}"/>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FF0D4540-0D03-1698-8EFF-B667C075436B}"/>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5937E9BB-6A52-8FA6-C3F1-C27B53ECDBCC}"/>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6748774A-1B33-CCF1-FA02-3D378F869592}"/>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6B9D15A-DA1F-BDC3-F6D3-3E6FE8554AE5}"/>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245BC48B-A2B6-2712-900E-FCCCC1AA0773}"/>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3A9B14F8-9ACA-7841-81F4-1AEAB9457803}"/>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95E27AA9-A3D9-E0AC-D2B1-0034D3F6D043}"/>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pic>
        <p:nvPicPr>
          <p:cNvPr id="15" name="Picture 1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67391" y="2476362"/>
            <a:ext cx="8945609" cy="3802899"/>
          </a:xfrm>
          <a:prstGeom prst="rect">
            <a:avLst/>
          </a:prstGeom>
        </p:spPr>
      </p:pic>
    </p:spTree>
    <p:extLst>
      <p:ext uri="{BB962C8B-B14F-4D97-AF65-F5344CB8AC3E}">
        <p14:creationId xmlns:p14="http://schemas.microsoft.com/office/powerpoint/2010/main" val="2274509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D3A20E-8A86-E561-8B71-11D8CD214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0B5F3A-DD93-B607-AB10-79789474FDCA}"/>
              </a:ext>
            </a:extLst>
          </p:cNvPr>
          <p:cNvSpPr>
            <a:spLocks noGrp="1"/>
          </p:cNvSpPr>
          <p:nvPr>
            <p:ph type="title"/>
          </p:nvPr>
        </p:nvSpPr>
        <p:spPr>
          <a:xfrm>
            <a:off x="457200" y="1076610"/>
            <a:ext cx="11365992" cy="679038"/>
          </a:xfrm>
        </p:spPr>
        <p:txBody>
          <a:bodyPr>
            <a:normAutofit fontScale="90000"/>
          </a:bodyPr>
          <a:lstStyle/>
          <a:p>
            <a:pPr>
              <a:lnSpc>
                <a:spcPts val="10296"/>
              </a:lnSpc>
            </a:pPr>
            <a:r>
              <a:rPr lang="en-US" b="1" dirty="0" smtClean="0">
                <a:solidFill>
                  <a:srgbClr val="FF0000"/>
                </a:solidFill>
                <a:latin typeface="Times New Roman" panose="02020603050405020304" pitchFamily="18" charset="0"/>
                <a:ea typeface="Gill Sans Bold"/>
                <a:cs typeface="Times New Roman" panose="02020603050405020304" pitchFamily="18" charset="0"/>
                <a:sym typeface="Gill Sans Bold"/>
              </a:rPr>
              <a:t>System Architecture</a:t>
            </a:r>
            <a:endPar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endParaRPr>
          </a:p>
        </p:txBody>
      </p:sp>
      <p:sp>
        <p:nvSpPr>
          <p:cNvPr id="3" name="Content Placeholder 2">
            <a:extLst>
              <a:ext uri="{FF2B5EF4-FFF2-40B4-BE49-F238E27FC236}">
                <a16:creationId xmlns:a16="http://schemas.microsoft.com/office/drawing/2014/main" xmlns="" id="{19B17746-2028-7DFC-04AC-E44D2859DB1D}"/>
              </a:ext>
            </a:extLst>
          </p:cNvPr>
          <p:cNvSpPr>
            <a:spLocks noGrp="1"/>
          </p:cNvSpPr>
          <p:nvPr>
            <p:ph idx="1"/>
          </p:nvPr>
        </p:nvSpPr>
        <p:spPr>
          <a:xfrm>
            <a:off x="180850" y="7930178"/>
            <a:ext cx="11365992" cy="4408678"/>
          </a:xfrm>
        </p:spPr>
        <p:txBody>
          <a:bodyPr/>
          <a:lstStyle/>
          <a:p>
            <a:pPr algn="just">
              <a:spcBef>
                <a:spcPct val="0"/>
              </a:spcBef>
            </a:pPr>
            <a:endParaRPr lang="en-US"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p:txBody>
      </p:sp>
      <p:sp>
        <p:nvSpPr>
          <p:cNvPr id="5" name="Slide Number Placeholder 4">
            <a:extLst>
              <a:ext uri="{FF2B5EF4-FFF2-40B4-BE49-F238E27FC236}">
                <a16:creationId xmlns:a16="http://schemas.microsoft.com/office/drawing/2014/main" xmlns="" id="{9799D511-1219-A9B5-5FAC-12CF499D94B2}"/>
              </a:ext>
            </a:extLst>
          </p:cNvPr>
          <p:cNvSpPr>
            <a:spLocks noGrp="1"/>
          </p:cNvSpPr>
          <p:nvPr>
            <p:ph type="sldNum" sz="quarter" idx="12"/>
          </p:nvPr>
        </p:nvSpPr>
        <p:spPr/>
        <p:txBody>
          <a:bodyPr/>
          <a:lstStyle/>
          <a:p>
            <a:fld id="{C1FF6DA9-008F-8B48-92A6-B652298478BF}" type="slidenum">
              <a:rPr lang="en-US" smtClean="0"/>
              <a:t>18</a:t>
            </a:fld>
            <a:endParaRPr lang="en-US" dirty="0"/>
          </a:p>
        </p:txBody>
      </p:sp>
      <p:pic>
        <p:nvPicPr>
          <p:cNvPr id="6" name="Content Placeholder 7">
            <a:extLst>
              <a:ext uri="{FF2B5EF4-FFF2-40B4-BE49-F238E27FC236}">
                <a16:creationId xmlns:a16="http://schemas.microsoft.com/office/drawing/2014/main" xmlns="" id="{DEB1420C-D6F8-67AB-EE5C-03E67122E8F6}"/>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FF0D4540-0D03-1698-8EFF-B667C075436B}"/>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5937E9BB-6A52-8FA6-C3F1-C27B53ECDBCC}"/>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6748774A-1B33-CCF1-FA02-3D378F869592}"/>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6B9D15A-DA1F-BDC3-F6D3-3E6FE8554AE5}"/>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245BC48B-A2B6-2712-900E-FCCCC1AA0773}"/>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3A9B14F8-9ACA-7841-81F4-1AEAB9457803}"/>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95E27AA9-A3D9-E0AC-D2B1-0034D3F6D043}"/>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pic>
        <p:nvPicPr>
          <p:cNvPr id="14" name="Picture 13"/>
          <p:cNvPicPr>
            <a:picLocks noChangeAspect="1"/>
          </p:cNvPicPr>
          <p:nvPr/>
        </p:nvPicPr>
        <p:blipFill>
          <a:blip r:embed="rId7"/>
          <a:stretch>
            <a:fillRect/>
          </a:stretch>
        </p:blipFill>
        <p:spPr>
          <a:xfrm>
            <a:off x="1605140" y="2544417"/>
            <a:ext cx="9380978" cy="3430022"/>
          </a:xfrm>
          <a:prstGeom prst="rect">
            <a:avLst/>
          </a:prstGeom>
        </p:spPr>
      </p:pic>
    </p:spTree>
    <p:extLst>
      <p:ext uri="{BB962C8B-B14F-4D97-AF65-F5344CB8AC3E}">
        <p14:creationId xmlns:p14="http://schemas.microsoft.com/office/powerpoint/2010/main" val="1884004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D3A20E-8A86-E561-8B71-11D8CD214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0B5F3A-DD93-B607-AB10-79789474FDCA}"/>
              </a:ext>
            </a:extLst>
          </p:cNvPr>
          <p:cNvSpPr>
            <a:spLocks noGrp="1"/>
          </p:cNvSpPr>
          <p:nvPr>
            <p:ph type="title"/>
          </p:nvPr>
        </p:nvSpPr>
        <p:spPr>
          <a:xfrm>
            <a:off x="457200" y="1076610"/>
            <a:ext cx="11365992" cy="679038"/>
          </a:xfrm>
        </p:spPr>
        <p:txBody>
          <a:bodyPr>
            <a:normAutofit fontScale="90000"/>
          </a:bodyPr>
          <a:lstStyle/>
          <a:p>
            <a:pPr>
              <a:lnSpc>
                <a:spcPts val="10296"/>
              </a:lnSpc>
            </a:pPr>
            <a:r>
              <a:rPr lang="en-US" b="1" dirty="0" smtClean="0">
                <a:solidFill>
                  <a:srgbClr val="FF0000"/>
                </a:solidFill>
                <a:latin typeface="Times New Roman" panose="02020603050405020304" pitchFamily="18" charset="0"/>
                <a:ea typeface="Gill Sans Bold"/>
                <a:cs typeface="Times New Roman" panose="02020603050405020304" pitchFamily="18" charset="0"/>
                <a:sym typeface="Gill Sans Bold"/>
              </a:rPr>
              <a:t>Implementation of modules</a:t>
            </a:r>
            <a:endPar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endParaRPr>
          </a:p>
        </p:txBody>
      </p:sp>
      <p:sp>
        <p:nvSpPr>
          <p:cNvPr id="3" name="Content Placeholder 2">
            <a:extLst>
              <a:ext uri="{FF2B5EF4-FFF2-40B4-BE49-F238E27FC236}">
                <a16:creationId xmlns:a16="http://schemas.microsoft.com/office/drawing/2014/main" xmlns="" id="{19B17746-2028-7DFC-04AC-E44D2859DB1D}"/>
              </a:ext>
            </a:extLst>
          </p:cNvPr>
          <p:cNvSpPr>
            <a:spLocks noGrp="1"/>
          </p:cNvSpPr>
          <p:nvPr>
            <p:ph idx="1"/>
          </p:nvPr>
        </p:nvSpPr>
        <p:spPr>
          <a:xfrm>
            <a:off x="995466" y="2024761"/>
            <a:ext cx="11365992" cy="4408678"/>
          </a:xfrm>
        </p:spPr>
        <p:txBody>
          <a:bodyPr>
            <a:normAutofit fontScale="70000" lnSpcReduction="20000"/>
          </a:bodyPr>
          <a:lstStyle/>
          <a:p>
            <a:pPr marL="914400" indent="-914400">
              <a:lnSpc>
                <a:spcPct val="150000"/>
              </a:lnSpc>
              <a:buFont typeface="+mj-lt"/>
              <a:buAutoNum type="arabicPeriod"/>
            </a:pPr>
            <a:r>
              <a:rPr lang="en-IN" sz="5400" dirty="0">
                <a:latin typeface="Times New Roman" panose="02020603050405020304" pitchFamily="18" charset="0"/>
                <a:cs typeface="Times New Roman" panose="02020603050405020304" pitchFamily="18" charset="0"/>
              </a:rPr>
              <a:t>Satellite Image Emulator Module</a:t>
            </a:r>
          </a:p>
          <a:p>
            <a:pPr marL="914400" indent="-914400">
              <a:lnSpc>
                <a:spcPct val="150000"/>
              </a:lnSpc>
              <a:buFont typeface="+mj-lt"/>
              <a:buAutoNum type="arabicPeriod"/>
            </a:pPr>
            <a:r>
              <a:rPr lang="en-IN" sz="5400" dirty="0">
                <a:latin typeface="Times New Roman" panose="02020603050405020304" pitchFamily="18" charset="0"/>
                <a:cs typeface="Times New Roman" panose="02020603050405020304" pitchFamily="18" charset="0"/>
              </a:rPr>
              <a:t>Processing Server Module</a:t>
            </a:r>
          </a:p>
          <a:p>
            <a:pPr marL="1943100" lvl="2" indent="-1028700">
              <a:lnSpc>
                <a:spcPct val="150000"/>
              </a:lnSpc>
              <a:buFont typeface="+mj-lt"/>
              <a:buAutoNum type="romanLcPeriod"/>
            </a:pPr>
            <a:r>
              <a:rPr lang="en-IN" sz="5400" dirty="0">
                <a:latin typeface="Times New Roman" panose="02020603050405020304" pitchFamily="18" charset="0"/>
                <a:cs typeface="Times New Roman" panose="02020603050405020304" pitchFamily="18" charset="0"/>
              </a:rPr>
              <a:t>Image Segmentation Module</a:t>
            </a:r>
          </a:p>
          <a:p>
            <a:pPr marL="1943100" lvl="2" indent="-1028700">
              <a:lnSpc>
                <a:spcPct val="150000"/>
              </a:lnSpc>
              <a:buFont typeface="+mj-lt"/>
              <a:buAutoNum type="romanLcPeriod"/>
            </a:pPr>
            <a:r>
              <a:rPr lang="en-IN" sz="5400" dirty="0">
                <a:latin typeface="Times New Roman" panose="02020603050405020304" pitchFamily="18" charset="0"/>
                <a:cs typeface="Times New Roman" panose="02020603050405020304" pitchFamily="18" charset="0"/>
              </a:rPr>
              <a:t>Image Classification Module</a:t>
            </a:r>
          </a:p>
          <a:p>
            <a:pPr marL="1943100" lvl="2" indent="-1028700">
              <a:lnSpc>
                <a:spcPct val="150000"/>
              </a:lnSpc>
              <a:buFont typeface="+mj-lt"/>
              <a:buAutoNum type="romanLcPeriod"/>
            </a:pPr>
            <a:r>
              <a:rPr lang="en-IN" sz="5400" dirty="0">
                <a:latin typeface="Times New Roman" panose="02020603050405020304" pitchFamily="18" charset="0"/>
                <a:cs typeface="Times New Roman" panose="02020603050405020304" pitchFamily="18" charset="0"/>
              </a:rPr>
              <a:t>Edge Display Module</a:t>
            </a:r>
          </a:p>
          <a:p>
            <a:pPr>
              <a:lnSpc>
                <a:spcPct val="150000"/>
              </a:lnSpc>
            </a:pPr>
            <a:endParaRPr lang="en-IN" sz="5400" dirty="0">
              <a:latin typeface="Times New Roman" panose="02020603050405020304" pitchFamily="18" charset="0"/>
              <a:cs typeface="Times New Roman" panose="02020603050405020304" pitchFamily="18" charset="0"/>
            </a:endParaRPr>
          </a:p>
          <a:p>
            <a:pPr marL="914400" indent="-914400">
              <a:lnSpc>
                <a:spcPct val="150000"/>
              </a:lnSpc>
              <a:buFont typeface="+mj-lt"/>
              <a:buAutoNum type="arabicPeriod"/>
            </a:pPr>
            <a:endParaRPr lang="en-IN" sz="5400" dirty="0">
              <a:latin typeface="Times New Roman" panose="02020603050405020304" pitchFamily="18" charset="0"/>
              <a:cs typeface="Times New Roman" panose="02020603050405020304" pitchFamily="18" charset="0"/>
            </a:endParaRPr>
          </a:p>
          <a:p>
            <a:pPr marL="914400" indent="-914400">
              <a:lnSpc>
                <a:spcPct val="150000"/>
              </a:lnSpc>
              <a:buFont typeface="+mj-lt"/>
              <a:buAutoNum type="arabicPeriod"/>
            </a:pPr>
            <a:endParaRPr lang="en-IN" sz="5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9799D511-1219-A9B5-5FAC-12CF499D94B2}"/>
              </a:ext>
            </a:extLst>
          </p:cNvPr>
          <p:cNvSpPr>
            <a:spLocks noGrp="1"/>
          </p:cNvSpPr>
          <p:nvPr>
            <p:ph type="sldNum" sz="quarter" idx="12"/>
          </p:nvPr>
        </p:nvSpPr>
        <p:spPr/>
        <p:txBody>
          <a:bodyPr/>
          <a:lstStyle/>
          <a:p>
            <a:fld id="{C1FF6DA9-008F-8B48-92A6-B652298478BF}" type="slidenum">
              <a:rPr lang="en-US" smtClean="0"/>
              <a:t>19</a:t>
            </a:fld>
            <a:endParaRPr lang="en-US" dirty="0"/>
          </a:p>
        </p:txBody>
      </p:sp>
      <p:pic>
        <p:nvPicPr>
          <p:cNvPr id="6" name="Content Placeholder 7">
            <a:extLst>
              <a:ext uri="{FF2B5EF4-FFF2-40B4-BE49-F238E27FC236}">
                <a16:creationId xmlns:a16="http://schemas.microsoft.com/office/drawing/2014/main" xmlns="" id="{DEB1420C-D6F8-67AB-EE5C-03E67122E8F6}"/>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FF0D4540-0D03-1698-8EFF-B667C075436B}"/>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5937E9BB-6A52-8FA6-C3F1-C27B53ECDBCC}"/>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6748774A-1B33-CCF1-FA02-3D378F869592}"/>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6B9D15A-DA1F-BDC3-F6D3-3E6FE8554AE5}"/>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245BC48B-A2B6-2712-900E-FCCCC1AA0773}"/>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3A9B14F8-9ACA-7841-81F4-1AEAB9457803}"/>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95E27AA9-A3D9-E0AC-D2B1-0034D3F6D043}"/>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2155863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D3A20E-8A86-E561-8B71-11D8CD214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0B5F3A-DD93-B607-AB10-79789474FDCA}"/>
              </a:ext>
            </a:extLst>
          </p:cNvPr>
          <p:cNvSpPr>
            <a:spLocks noGrp="1"/>
          </p:cNvSpPr>
          <p:nvPr>
            <p:ph type="title"/>
          </p:nvPr>
        </p:nvSpPr>
        <p:spPr>
          <a:xfrm>
            <a:off x="457200" y="1076610"/>
            <a:ext cx="11365992" cy="679038"/>
          </a:xfrm>
        </p:spPr>
        <p:txBody>
          <a:bodyPr>
            <a:normAutofit fontScale="90000"/>
          </a:bodyPr>
          <a:lstStyle/>
          <a:p>
            <a:pPr>
              <a:lnSpc>
                <a:spcPts val="10296"/>
              </a:lnSpc>
            </a:pPr>
            <a:r>
              <a:rPr lang="en-US" b="1" dirty="0" smtClean="0">
                <a:solidFill>
                  <a:srgbClr val="FF0000"/>
                </a:solidFill>
                <a:latin typeface="Times New Roman" panose="02020603050405020304" pitchFamily="18" charset="0"/>
                <a:ea typeface="Gill Sans Bold"/>
                <a:cs typeface="Times New Roman" panose="02020603050405020304" pitchFamily="18" charset="0"/>
                <a:sym typeface="Gill Sans Bold"/>
              </a:rPr>
              <a:t>Tools and Technologies</a:t>
            </a:r>
            <a:endPar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endParaRPr>
          </a:p>
        </p:txBody>
      </p:sp>
      <p:sp>
        <p:nvSpPr>
          <p:cNvPr id="3" name="Content Placeholder 2">
            <a:extLst>
              <a:ext uri="{FF2B5EF4-FFF2-40B4-BE49-F238E27FC236}">
                <a16:creationId xmlns:a16="http://schemas.microsoft.com/office/drawing/2014/main" xmlns="" id="{19B17746-2028-7DFC-04AC-E44D2859DB1D}"/>
              </a:ext>
            </a:extLst>
          </p:cNvPr>
          <p:cNvSpPr>
            <a:spLocks noGrp="1"/>
          </p:cNvSpPr>
          <p:nvPr>
            <p:ph idx="1"/>
          </p:nvPr>
        </p:nvSpPr>
        <p:spPr>
          <a:xfrm>
            <a:off x="995466" y="2024761"/>
            <a:ext cx="10114494" cy="4408678"/>
          </a:xfrm>
        </p:spPr>
        <p:txBody>
          <a:bodyPr>
            <a:normAutofit fontScale="40000" lnSpcReduction="20000"/>
          </a:bodyPr>
          <a:lstStyle/>
          <a:p>
            <a:pPr marL="571500" indent="-571500" algn="just">
              <a:spcBef>
                <a:spcPct val="0"/>
              </a:spcBef>
              <a:buFont typeface="Wingdings" panose="05000000000000000000" pitchFamily="2" charset="2"/>
              <a:buChar char="q"/>
            </a:pPr>
            <a:r>
              <a:rPr lang="en-US" sz="5400" b="1" dirty="0">
                <a:solidFill>
                  <a:srgbClr val="383C5B"/>
                </a:solidFill>
                <a:latin typeface="Times New Roman" panose="02020603050405020304" pitchFamily="18" charset="0"/>
                <a:ea typeface="Agrandir Narrow"/>
                <a:cs typeface="Times New Roman" panose="02020603050405020304" pitchFamily="18" charset="0"/>
                <a:sym typeface="Agrandir Narrow"/>
              </a:rPr>
              <a:t>Python-</a:t>
            </a:r>
            <a:r>
              <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rPr>
              <a:t>High-level programming language widely used for machine learning and data analysis.</a:t>
            </a:r>
          </a:p>
          <a:p>
            <a:pPr marL="571500" indent="-571500" algn="just">
              <a:spcBef>
                <a:spcPct val="0"/>
              </a:spcBef>
              <a:buFont typeface="Wingdings" panose="05000000000000000000" pitchFamily="2" charset="2"/>
              <a:buChar char="q"/>
            </a:pPr>
            <a:endPar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marL="571500" indent="-571500" algn="just">
              <a:spcBef>
                <a:spcPct val="0"/>
              </a:spcBef>
              <a:buFont typeface="Wingdings" panose="05000000000000000000" pitchFamily="2" charset="2"/>
              <a:buChar char="q"/>
            </a:pPr>
            <a:r>
              <a:rPr lang="en-US" sz="5400" b="1" dirty="0" err="1">
                <a:solidFill>
                  <a:srgbClr val="383C5B"/>
                </a:solidFill>
                <a:latin typeface="Times New Roman" panose="02020603050405020304" pitchFamily="18" charset="0"/>
                <a:ea typeface="Agrandir Narrow"/>
                <a:cs typeface="Times New Roman" panose="02020603050405020304" pitchFamily="18" charset="0"/>
                <a:sym typeface="Agrandir Narrow"/>
              </a:rPr>
              <a:t>TensorFlow</a:t>
            </a:r>
            <a:r>
              <a:rPr lang="en-US" sz="5400" b="1" dirty="0">
                <a:solidFill>
                  <a:srgbClr val="383C5B"/>
                </a:solidFill>
                <a:latin typeface="Times New Roman" panose="02020603050405020304" pitchFamily="18" charset="0"/>
                <a:ea typeface="Agrandir Narrow"/>
                <a:cs typeface="Times New Roman" panose="02020603050405020304" pitchFamily="18" charset="0"/>
                <a:sym typeface="Agrandir Narrow"/>
              </a:rPr>
              <a:t>-</a:t>
            </a:r>
            <a:r>
              <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rPr>
              <a:t>Open-source deep learning framework used for training and deploying neural networks.</a:t>
            </a:r>
          </a:p>
          <a:p>
            <a:pPr algn="just">
              <a:spcBef>
                <a:spcPct val="0"/>
              </a:spcBef>
            </a:pPr>
            <a:endPar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marL="571500" indent="-571500" algn="just">
              <a:spcBef>
                <a:spcPct val="0"/>
              </a:spcBef>
              <a:buFont typeface="Wingdings" panose="05000000000000000000" pitchFamily="2" charset="2"/>
              <a:buChar char="q"/>
            </a:pPr>
            <a:r>
              <a:rPr lang="en-US" sz="5400" b="1" dirty="0" err="1">
                <a:solidFill>
                  <a:srgbClr val="383C5B"/>
                </a:solidFill>
                <a:latin typeface="Times New Roman" panose="02020603050405020304" pitchFamily="18" charset="0"/>
                <a:ea typeface="Agrandir Narrow"/>
                <a:cs typeface="Times New Roman" panose="02020603050405020304" pitchFamily="18" charset="0"/>
                <a:sym typeface="Agrandir Narrow"/>
              </a:rPr>
              <a:t>OpenFAAS</a:t>
            </a:r>
            <a:r>
              <a:rPr lang="en-US" sz="5400" b="1" dirty="0">
                <a:solidFill>
                  <a:srgbClr val="383C5B"/>
                </a:solidFill>
                <a:latin typeface="Times New Roman" panose="02020603050405020304" pitchFamily="18" charset="0"/>
                <a:ea typeface="Agrandir Narrow"/>
                <a:cs typeface="Times New Roman" panose="02020603050405020304" pitchFamily="18" charset="0"/>
                <a:sym typeface="Agrandir Narrow"/>
              </a:rPr>
              <a:t> - </a:t>
            </a:r>
            <a:r>
              <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rPr>
              <a:t>An open-source platform that lets you run and scale functions in a </a:t>
            </a:r>
            <a:r>
              <a:rPr lang="en-US" sz="5400" dirty="0" err="1">
                <a:solidFill>
                  <a:srgbClr val="383C5B"/>
                </a:solidFill>
                <a:latin typeface="Times New Roman" panose="02020603050405020304" pitchFamily="18" charset="0"/>
                <a:ea typeface="Agrandir Narrow"/>
                <a:cs typeface="Times New Roman" panose="02020603050405020304" pitchFamily="18" charset="0"/>
                <a:sym typeface="Agrandir Narrow"/>
              </a:rPr>
              <a:t>serverless</a:t>
            </a:r>
            <a:r>
              <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rPr>
              <a:t> way using containers.</a:t>
            </a:r>
          </a:p>
          <a:p>
            <a:pPr marL="571500" indent="-571500" algn="just">
              <a:spcBef>
                <a:spcPct val="0"/>
              </a:spcBef>
              <a:buFont typeface="Wingdings" panose="05000000000000000000" pitchFamily="2" charset="2"/>
              <a:buChar char="q"/>
            </a:pPr>
            <a:endPar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marL="571500" indent="-571500" algn="just">
              <a:spcBef>
                <a:spcPct val="0"/>
              </a:spcBef>
              <a:buFont typeface="Wingdings" panose="05000000000000000000" pitchFamily="2" charset="2"/>
              <a:buChar char="q"/>
            </a:pPr>
            <a:r>
              <a:rPr lang="en-US" sz="5400" b="1" dirty="0" err="1">
                <a:solidFill>
                  <a:srgbClr val="383C5B"/>
                </a:solidFill>
                <a:latin typeface="Times New Roman" panose="02020603050405020304" pitchFamily="18" charset="0"/>
                <a:ea typeface="Agrandir Narrow"/>
                <a:cs typeface="Times New Roman" panose="02020603050405020304" pitchFamily="18" charset="0"/>
                <a:sym typeface="Agrandir Narrow"/>
              </a:rPr>
              <a:t>OpenCV</a:t>
            </a:r>
            <a:r>
              <a:rPr lang="en-US" sz="5400" b="1" dirty="0">
                <a:solidFill>
                  <a:srgbClr val="383C5B"/>
                </a:solidFill>
                <a:latin typeface="Times New Roman" panose="02020603050405020304" pitchFamily="18" charset="0"/>
                <a:ea typeface="Agrandir Narrow"/>
                <a:cs typeface="Times New Roman" panose="02020603050405020304" pitchFamily="18" charset="0"/>
                <a:sym typeface="Agrandir Narrow"/>
              </a:rPr>
              <a:t>-</a:t>
            </a:r>
            <a:r>
              <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rPr>
              <a:t>Computer vision library used for image processing and feature extraction.</a:t>
            </a:r>
          </a:p>
          <a:p>
            <a:pPr marL="571500" indent="-571500" algn="just">
              <a:spcBef>
                <a:spcPct val="0"/>
              </a:spcBef>
              <a:buFont typeface="Wingdings" panose="05000000000000000000" pitchFamily="2" charset="2"/>
              <a:buChar char="q"/>
            </a:pPr>
            <a:endPar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a:p>
            <a:pPr marL="571500" indent="-571500" algn="just">
              <a:spcBef>
                <a:spcPct val="0"/>
              </a:spcBef>
              <a:buFont typeface="Wingdings" panose="05000000000000000000" pitchFamily="2" charset="2"/>
              <a:buChar char="q"/>
            </a:pPr>
            <a:r>
              <a:rPr lang="en-US" sz="5400" b="1" dirty="0">
                <a:solidFill>
                  <a:srgbClr val="383C5B"/>
                </a:solidFill>
                <a:latin typeface="Times New Roman" panose="02020603050405020304" pitchFamily="18" charset="0"/>
                <a:ea typeface="Agrandir Narrow"/>
                <a:cs typeface="Times New Roman" panose="02020603050405020304" pitchFamily="18" charset="0"/>
                <a:sym typeface="Agrandir Narrow"/>
              </a:rPr>
              <a:t>Frontend – </a:t>
            </a:r>
            <a:r>
              <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rPr>
              <a:t>HTML , </a:t>
            </a:r>
            <a:r>
              <a:rPr lang="en-US" sz="5400" b="1" dirty="0">
                <a:solidFill>
                  <a:srgbClr val="383C5B"/>
                </a:solidFill>
                <a:latin typeface="Times New Roman" panose="02020603050405020304" pitchFamily="18" charset="0"/>
                <a:ea typeface="Agrandir Narrow"/>
                <a:cs typeface="Times New Roman" panose="02020603050405020304" pitchFamily="18" charset="0"/>
                <a:sym typeface="Agrandir Narrow"/>
              </a:rPr>
              <a:t>Cloud Database –</a:t>
            </a:r>
            <a:r>
              <a:rPr lang="en-US" sz="5400" dirty="0" err="1">
                <a:solidFill>
                  <a:srgbClr val="383C5B"/>
                </a:solidFill>
                <a:latin typeface="Times New Roman" panose="02020603050405020304" pitchFamily="18" charset="0"/>
                <a:ea typeface="Agrandir Narrow"/>
                <a:cs typeface="Times New Roman" panose="02020603050405020304" pitchFamily="18" charset="0"/>
                <a:sym typeface="Agrandir Narrow"/>
              </a:rPr>
              <a:t>Supabase</a:t>
            </a:r>
            <a:r>
              <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rPr>
              <a:t> , </a:t>
            </a:r>
            <a:r>
              <a:rPr lang="en-US" sz="5400" b="1" dirty="0">
                <a:solidFill>
                  <a:srgbClr val="383C5B"/>
                </a:solidFill>
                <a:latin typeface="Times New Roman" panose="02020603050405020304" pitchFamily="18" charset="0"/>
                <a:ea typeface="Agrandir Narrow"/>
                <a:cs typeface="Times New Roman" panose="02020603050405020304" pitchFamily="18" charset="0"/>
                <a:sym typeface="Agrandir Narrow"/>
              </a:rPr>
              <a:t>Edge Processing</a:t>
            </a:r>
            <a:r>
              <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rPr>
              <a:t> –Raspberry Pi</a:t>
            </a:r>
            <a:endParaRPr lang="en-US" sz="5400" dirty="0">
              <a:solidFill>
                <a:srgbClr val="383C5B"/>
              </a:solidFill>
              <a:latin typeface="Times New Roman" panose="02020603050405020304" pitchFamily="18" charset="0"/>
              <a:ea typeface="Agrandir Narrow"/>
              <a:cs typeface="Times New Roman" panose="02020603050405020304" pitchFamily="18" charset="0"/>
              <a:sym typeface="Agrandir Narrow"/>
            </a:endParaRPr>
          </a:p>
        </p:txBody>
      </p:sp>
      <p:sp>
        <p:nvSpPr>
          <p:cNvPr id="5" name="Slide Number Placeholder 4">
            <a:extLst>
              <a:ext uri="{FF2B5EF4-FFF2-40B4-BE49-F238E27FC236}">
                <a16:creationId xmlns:a16="http://schemas.microsoft.com/office/drawing/2014/main" xmlns="" id="{9799D511-1219-A9B5-5FAC-12CF499D94B2}"/>
              </a:ext>
            </a:extLst>
          </p:cNvPr>
          <p:cNvSpPr>
            <a:spLocks noGrp="1"/>
          </p:cNvSpPr>
          <p:nvPr>
            <p:ph type="sldNum" sz="quarter" idx="12"/>
          </p:nvPr>
        </p:nvSpPr>
        <p:spPr/>
        <p:txBody>
          <a:bodyPr/>
          <a:lstStyle/>
          <a:p>
            <a:fld id="{C1FF6DA9-008F-8B48-92A6-B652298478BF}" type="slidenum">
              <a:rPr lang="en-US" smtClean="0"/>
              <a:t>20</a:t>
            </a:fld>
            <a:endParaRPr lang="en-US" dirty="0"/>
          </a:p>
        </p:txBody>
      </p:sp>
      <p:pic>
        <p:nvPicPr>
          <p:cNvPr id="6" name="Content Placeholder 7">
            <a:extLst>
              <a:ext uri="{FF2B5EF4-FFF2-40B4-BE49-F238E27FC236}">
                <a16:creationId xmlns:a16="http://schemas.microsoft.com/office/drawing/2014/main" xmlns="" id="{DEB1420C-D6F8-67AB-EE5C-03E67122E8F6}"/>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FF0D4540-0D03-1698-8EFF-B667C075436B}"/>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5937E9BB-6A52-8FA6-C3F1-C27B53ECDBCC}"/>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6748774A-1B33-CCF1-FA02-3D378F869592}"/>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6B9D15A-DA1F-BDC3-F6D3-3E6FE8554AE5}"/>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245BC48B-A2B6-2712-900E-FCCCC1AA0773}"/>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3A9B14F8-9ACA-7841-81F4-1AEAB9457803}"/>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95E27AA9-A3D9-E0AC-D2B1-0034D3F6D043}"/>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952921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D3A20E-8A86-E561-8B71-11D8CD214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E0B5F3A-DD93-B607-AB10-79789474FDCA}"/>
              </a:ext>
            </a:extLst>
          </p:cNvPr>
          <p:cNvSpPr>
            <a:spLocks noGrp="1"/>
          </p:cNvSpPr>
          <p:nvPr>
            <p:ph type="title"/>
          </p:nvPr>
        </p:nvSpPr>
        <p:spPr>
          <a:xfrm>
            <a:off x="457200" y="1076610"/>
            <a:ext cx="11365992" cy="679038"/>
          </a:xfrm>
        </p:spPr>
        <p:txBody>
          <a:bodyPr>
            <a:normAutofit fontScale="90000"/>
          </a:bodyPr>
          <a:lstStyle/>
          <a:p>
            <a:pPr>
              <a:lnSpc>
                <a:spcPts val="10296"/>
              </a:lnSpc>
            </a:pPr>
            <a:r>
              <a:rPr lang="en-US" b="1" dirty="0" smtClean="0">
                <a:solidFill>
                  <a:srgbClr val="FF0000"/>
                </a:solidFill>
                <a:latin typeface="Times New Roman" panose="02020603050405020304" pitchFamily="18" charset="0"/>
                <a:ea typeface="Gill Sans Bold"/>
                <a:cs typeface="Times New Roman" panose="02020603050405020304" pitchFamily="18" charset="0"/>
                <a:sym typeface="Gill Sans Bold"/>
              </a:rPr>
              <a:t>Conclusion</a:t>
            </a:r>
            <a:endParaRPr lang="en-US" b="1" dirty="0">
              <a:solidFill>
                <a:srgbClr val="FF0000"/>
              </a:solidFill>
              <a:latin typeface="Times New Roman" panose="02020603050405020304" pitchFamily="18" charset="0"/>
              <a:ea typeface="Gill Sans Bold"/>
              <a:cs typeface="Times New Roman" panose="02020603050405020304" pitchFamily="18" charset="0"/>
              <a:sym typeface="Gill Sans Bold"/>
            </a:endParaRPr>
          </a:p>
        </p:txBody>
      </p:sp>
      <p:sp>
        <p:nvSpPr>
          <p:cNvPr id="3" name="Content Placeholder 2">
            <a:extLst>
              <a:ext uri="{FF2B5EF4-FFF2-40B4-BE49-F238E27FC236}">
                <a16:creationId xmlns:a16="http://schemas.microsoft.com/office/drawing/2014/main" xmlns="" id="{19B17746-2028-7DFC-04AC-E44D2859DB1D}"/>
              </a:ext>
            </a:extLst>
          </p:cNvPr>
          <p:cNvSpPr>
            <a:spLocks noGrp="1"/>
          </p:cNvSpPr>
          <p:nvPr>
            <p:ph idx="1"/>
          </p:nvPr>
        </p:nvSpPr>
        <p:spPr>
          <a:xfrm>
            <a:off x="995466" y="2024761"/>
            <a:ext cx="10827726" cy="4408678"/>
          </a:xfrm>
        </p:spPr>
        <p:txBody>
          <a:bodyPr>
            <a:normAutofit fontScale="40000" lnSpcReduction="20000"/>
          </a:bodyPr>
          <a:lstStyle/>
          <a:p>
            <a:pPr algn="just">
              <a:lnSpc>
                <a:spcPct val="150000"/>
              </a:lnSpc>
              <a:spcBef>
                <a:spcPct val="0"/>
              </a:spcBef>
            </a:pPr>
            <a:r>
              <a:rPr lang="en-US" sz="5400" b="1" dirty="0">
                <a:solidFill>
                  <a:schemeClr val="tx2"/>
                </a:solidFill>
                <a:latin typeface="Times New Roman" panose="02020603050405020304" pitchFamily="18" charset="0"/>
                <a:ea typeface="Agrandir Narrow"/>
                <a:cs typeface="Times New Roman" panose="02020603050405020304" pitchFamily="18" charset="0"/>
                <a:sym typeface="Agrandir Narrow"/>
              </a:rPr>
              <a:t> 	</a:t>
            </a:r>
            <a:r>
              <a:rPr lang="en-US" sz="5400" b="1" dirty="0">
                <a:solidFill>
                  <a:schemeClr val="tx2"/>
                </a:solidFill>
                <a:latin typeface="Times New Roman" panose="02020603050405020304" pitchFamily="18" charset="0"/>
                <a:cs typeface="Times New Roman" panose="02020603050405020304" pitchFamily="18" charset="0"/>
              </a:rPr>
              <a:t>This project proposes an Deep Learning based framework for image segmentation and object detection satellite imagery to identify aerial objects efficiently. By integrating lightweight Deep learning models with edge devices, the system aims to overcome limitations of traditional cloud-based approaches such as high latency, bandwidth dependency, and delayed decision-making. The proposed solution enhances real-time processing capability, improves detection accuracy for small and fast-moving objects, and ensures energy-efficient computation. Overall, this work contributes to intelligent space object monitoring and supports advanced space research, satellite safety, and sustainable space infrastructure development.</a:t>
            </a:r>
            <a:endParaRPr lang="en-US" sz="5400" b="1" dirty="0">
              <a:solidFill>
                <a:schemeClr val="tx2"/>
              </a:solidFill>
              <a:latin typeface="Times New Roman" panose="02020603050405020304" pitchFamily="18" charset="0"/>
              <a:ea typeface="Agrandir Narrow"/>
              <a:cs typeface="Times New Roman" panose="02020603050405020304" pitchFamily="18" charset="0"/>
              <a:sym typeface="Agrandir Narrow"/>
            </a:endParaRPr>
          </a:p>
        </p:txBody>
      </p:sp>
      <p:sp>
        <p:nvSpPr>
          <p:cNvPr id="5" name="Slide Number Placeholder 4">
            <a:extLst>
              <a:ext uri="{FF2B5EF4-FFF2-40B4-BE49-F238E27FC236}">
                <a16:creationId xmlns:a16="http://schemas.microsoft.com/office/drawing/2014/main" xmlns="" id="{9799D511-1219-A9B5-5FAC-12CF499D94B2}"/>
              </a:ext>
            </a:extLst>
          </p:cNvPr>
          <p:cNvSpPr>
            <a:spLocks noGrp="1"/>
          </p:cNvSpPr>
          <p:nvPr>
            <p:ph type="sldNum" sz="quarter" idx="12"/>
          </p:nvPr>
        </p:nvSpPr>
        <p:spPr/>
        <p:txBody>
          <a:bodyPr/>
          <a:lstStyle/>
          <a:p>
            <a:fld id="{C1FF6DA9-008F-8B48-92A6-B652298478BF}" type="slidenum">
              <a:rPr lang="en-US" smtClean="0"/>
              <a:t>21</a:t>
            </a:fld>
            <a:endParaRPr lang="en-US" dirty="0"/>
          </a:p>
        </p:txBody>
      </p:sp>
      <p:pic>
        <p:nvPicPr>
          <p:cNvPr id="6" name="Content Placeholder 7">
            <a:extLst>
              <a:ext uri="{FF2B5EF4-FFF2-40B4-BE49-F238E27FC236}">
                <a16:creationId xmlns:a16="http://schemas.microsoft.com/office/drawing/2014/main" xmlns="" id="{DEB1420C-D6F8-67AB-EE5C-03E67122E8F6}"/>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FF0D4540-0D03-1698-8EFF-B667C075436B}"/>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5937E9BB-6A52-8FA6-C3F1-C27B53ECDBCC}"/>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6748774A-1B33-CCF1-FA02-3D378F869592}"/>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C6B9D15A-DA1F-BDC3-F6D3-3E6FE8554AE5}"/>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245BC48B-A2B6-2712-900E-FCCCC1AA0773}"/>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3A9B14F8-9ACA-7841-81F4-1AEAB9457803}"/>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95E27AA9-A3D9-E0AC-D2B1-0034D3F6D043}"/>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2951736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DE7DCFC-2E26-7C36-0D9C-B5BD7D9B0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EED4380-2F2D-47D2-3302-393C49598DAE}"/>
              </a:ext>
            </a:extLst>
          </p:cNvPr>
          <p:cNvSpPr>
            <a:spLocks noGrp="1"/>
          </p:cNvSpPr>
          <p:nvPr>
            <p:ph type="title"/>
          </p:nvPr>
        </p:nvSpPr>
        <p:spPr>
          <a:xfrm>
            <a:off x="995466" y="-3226790"/>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3803DB24-4592-BEC4-E024-DA5B48EA7B59}"/>
              </a:ext>
            </a:extLst>
          </p:cNvPr>
          <p:cNvSpPr>
            <a:spLocks noGrp="1"/>
          </p:cNvSpPr>
          <p:nvPr>
            <p:ph idx="1"/>
          </p:nvPr>
        </p:nvSpPr>
        <p:spPr>
          <a:xfrm>
            <a:off x="457200" y="1538422"/>
            <a:ext cx="11365992" cy="4408678"/>
          </a:xfrm>
        </p:spPr>
        <p:txBody>
          <a:bodyPr>
            <a:normAutofit fontScale="62500" lnSpcReduction="20000"/>
          </a:bodyPr>
          <a:lstStyle/>
          <a:p>
            <a:pPr marL="514350" indent="-514350" algn="just" fontAlgn="base">
              <a:buFont typeface="+mj-lt"/>
              <a:buAutoNum type="arabicPeriod"/>
            </a:pPr>
            <a:r>
              <a:rPr lang="en-IN" dirty="0" err="1">
                <a:latin typeface="Times New Roman" panose="02020603050405020304" pitchFamily="18" charset="0"/>
                <a:cs typeface="Times New Roman" panose="02020603050405020304" pitchFamily="18" charset="0"/>
              </a:rPr>
              <a:t>Sudha</a:t>
            </a:r>
            <a:r>
              <a:rPr lang="en-IN" dirty="0">
                <a:latin typeface="Times New Roman" panose="02020603050405020304" pitchFamily="18" charset="0"/>
                <a:cs typeface="Times New Roman" panose="02020603050405020304" pitchFamily="18" charset="0"/>
              </a:rPr>
              <a:t>, S. P., and J. B. </a:t>
            </a:r>
            <a:r>
              <a:rPr lang="en-IN" dirty="0" err="1">
                <a:latin typeface="Times New Roman" panose="02020603050405020304" pitchFamily="18" charset="0"/>
                <a:cs typeface="Times New Roman" panose="02020603050405020304" pitchFamily="18" charset="0"/>
              </a:rPr>
              <a:t>Loret</a:t>
            </a:r>
            <a:r>
              <a:rPr lang="en-IN" dirty="0">
                <a:latin typeface="Times New Roman" panose="02020603050405020304" pitchFamily="18" charset="0"/>
                <a:cs typeface="Times New Roman" panose="02020603050405020304" pitchFamily="18" charset="0"/>
              </a:rPr>
              <a:t>. "A review on machine learning-based precision agriculture techniques for crop farming monitoring with IOT." </a:t>
            </a:r>
            <a:r>
              <a:rPr lang="en-IN" i="1" dirty="0">
                <a:latin typeface="Times New Roman" panose="02020603050405020304" pitchFamily="18" charset="0"/>
                <a:cs typeface="Times New Roman" panose="02020603050405020304" pitchFamily="18" charset="0"/>
              </a:rPr>
              <a:t>Discover Environment</a:t>
            </a:r>
            <a:r>
              <a:rPr lang="en-IN" dirty="0">
                <a:latin typeface="Times New Roman" panose="02020603050405020304" pitchFamily="18" charset="0"/>
                <a:cs typeface="Times New Roman" panose="02020603050405020304" pitchFamily="18" charset="0"/>
              </a:rPr>
              <a:t> 4.1 (2026): 10.</a:t>
            </a:r>
          </a:p>
          <a:p>
            <a:pPr marL="514350" indent="-514350" algn="just" fontAlgn="base">
              <a:buFont typeface="+mj-lt"/>
              <a:buAutoNum type="arabicPeriod"/>
            </a:pPr>
            <a:endParaRPr lang="en-IN" dirty="0">
              <a:latin typeface="Times New Roman" panose="02020603050405020304" pitchFamily="18" charset="0"/>
              <a:cs typeface="Times New Roman" panose="02020603050405020304" pitchFamily="18" charset="0"/>
            </a:endParaRPr>
          </a:p>
          <a:p>
            <a:pPr marL="514350" indent="-514350" algn="just" fontAlgn="base">
              <a:buFont typeface="+mj-lt"/>
              <a:buAutoNum type="arabicPeriod"/>
            </a:pPr>
            <a:r>
              <a:rPr lang="en-IN" dirty="0">
                <a:latin typeface="Times New Roman" panose="02020603050405020304" pitchFamily="18" charset="0"/>
                <a:cs typeface="Times New Roman" panose="02020603050405020304" pitchFamily="18" charset="0"/>
              </a:rPr>
              <a:t>Ahmad, Muhammad </a:t>
            </a:r>
            <a:r>
              <a:rPr lang="en-IN" dirty="0" err="1">
                <a:latin typeface="Times New Roman" panose="02020603050405020304" pitchFamily="18" charset="0"/>
                <a:cs typeface="Times New Roman" panose="02020603050405020304" pitchFamily="18" charset="0"/>
              </a:rPr>
              <a:t>Nasar</a:t>
            </a:r>
            <a:r>
              <a:rPr lang="en-IN" dirty="0">
                <a:latin typeface="Times New Roman" panose="02020603050405020304" pitchFamily="18" charset="0"/>
                <a:cs typeface="Times New Roman" panose="02020603050405020304" pitchFamily="18" charset="0"/>
              </a:rPr>
              <a:t>, et al. "Advancements in deep learning methods for precise weed and rice classification from UAV imagery: a comprehensive review." </a:t>
            </a:r>
            <a:r>
              <a:rPr lang="en-IN" i="1" dirty="0">
                <a:latin typeface="Times New Roman" panose="02020603050405020304" pitchFamily="18" charset="0"/>
                <a:cs typeface="Times New Roman" panose="02020603050405020304" pitchFamily="18" charset="0"/>
              </a:rPr>
              <a:t>Discover Agriculture</a:t>
            </a:r>
            <a:r>
              <a:rPr lang="en-IN" dirty="0">
                <a:latin typeface="Times New Roman" panose="02020603050405020304" pitchFamily="18" charset="0"/>
                <a:cs typeface="Times New Roman" panose="02020603050405020304" pitchFamily="18" charset="0"/>
              </a:rPr>
              <a:t> 4.1 (2026): 8.</a:t>
            </a:r>
          </a:p>
          <a:p>
            <a:pPr marL="514350" indent="-514350" algn="just" fontAlgn="base">
              <a:buFont typeface="+mj-lt"/>
              <a:buAutoNum type="arabicPeriod"/>
            </a:pPr>
            <a:endParaRPr lang="en-IN" dirty="0">
              <a:latin typeface="Times New Roman" panose="02020603050405020304" pitchFamily="18" charset="0"/>
              <a:cs typeface="Times New Roman" panose="02020603050405020304" pitchFamily="18" charset="0"/>
            </a:endParaRPr>
          </a:p>
          <a:p>
            <a:pPr marL="514350" indent="-514350" algn="just" fontAlgn="base">
              <a:buFont typeface="+mj-lt"/>
              <a:buAutoNum type="arabicPeriod"/>
            </a:pPr>
            <a:r>
              <a:rPr lang="en-IN" dirty="0">
                <a:latin typeface="Times New Roman" panose="02020603050405020304" pitchFamily="18" charset="0"/>
                <a:cs typeface="Times New Roman" panose="02020603050405020304" pitchFamily="18" charset="0"/>
              </a:rPr>
              <a:t>Kang, </a:t>
            </a:r>
            <a:r>
              <a:rPr lang="en-IN" dirty="0" err="1">
                <a:latin typeface="Times New Roman" panose="02020603050405020304" pitchFamily="18" charset="0"/>
                <a:cs typeface="Times New Roman" panose="02020603050405020304" pitchFamily="18" charset="0"/>
              </a:rPr>
              <a:t>Junhyung</a:t>
            </a:r>
            <a:r>
              <a:rPr lang="en-IN" dirty="0">
                <a:latin typeface="Times New Roman" panose="02020603050405020304" pitchFamily="18" charset="0"/>
                <a:cs typeface="Times New Roman" panose="02020603050405020304" pitchFamily="18" charset="0"/>
              </a:rPr>
              <a:t>, et al. "A survey of deep learning-based object detection methods and datasets for overhead imagery." </a:t>
            </a:r>
            <a:r>
              <a:rPr lang="en-IN" i="1" dirty="0" err="1">
                <a:latin typeface="Times New Roman" panose="02020603050405020304" pitchFamily="18" charset="0"/>
                <a:cs typeface="Times New Roman" panose="02020603050405020304" pitchFamily="18" charset="0"/>
              </a:rPr>
              <a:t>Ieee</a:t>
            </a:r>
            <a:r>
              <a:rPr lang="en-IN" i="1" dirty="0">
                <a:latin typeface="Times New Roman" panose="02020603050405020304" pitchFamily="18" charset="0"/>
                <a:cs typeface="Times New Roman" panose="02020603050405020304" pitchFamily="18" charset="0"/>
              </a:rPr>
              <a:t> Access</a:t>
            </a:r>
            <a:r>
              <a:rPr lang="en-IN" dirty="0">
                <a:latin typeface="Times New Roman" panose="02020603050405020304" pitchFamily="18" charset="0"/>
                <a:cs typeface="Times New Roman" panose="02020603050405020304" pitchFamily="18" charset="0"/>
              </a:rPr>
              <a:t> 10 (2022): 20118-20134.</a:t>
            </a:r>
          </a:p>
          <a:p>
            <a:pPr marL="514350" indent="-514350" algn="just" fontAlgn="base">
              <a:buFont typeface="+mj-lt"/>
              <a:buAutoNum type="arabicPeriod"/>
            </a:pPr>
            <a:endParaRPr lang="en-IN" dirty="0">
              <a:latin typeface="Times New Roman" panose="02020603050405020304" pitchFamily="18" charset="0"/>
              <a:cs typeface="Times New Roman" panose="02020603050405020304" pitchFamily="18" charset="0"/>
            </a:endParaRPr>
          </a:p>
          <a:p>
            <a:pPr marL="514350" indent="-514350" algn="just" fontAlgn="base">
              <a:buFont typeface="+mj-lt"/>
              <a:buAutoNum type="arabicPeriod"/>
            </a:pPr>
            <a:r>
              <a:rPr lang="en-IN" dirty="0">
                <a:latin typeface="Times New Roman" panose="02020603050405020304" pitchFamily="18" charset="0"/>
                <a:cs typeface="Times New Roman" panose="02020603050405020304" pitchFamily="18" charset="0"/>
              </a:rPr>
              <a:t>K. El-</a:t>
            </a:r>
            <a:r>
              <a:rPr lang="en-IN" dirty="0" err="1">
                <a:latin typeface="Times New Roman" panose="02020603050405020304" pitchFamily="18" charset="0"/>
                <a:cs typeface="Times New Roman" panose="02020603050405020304" pitchFamily="18" charset="0"/>
              </a:rPr>
              <a:t>Darymli</a:t>
            </a:r>
            <a:r>
              <a:rPr lang="en-IN" dirty="0">
                <a:latin typeface="Times New Roman" panose="02020603050405020304" pitchFamily="18" charset="0"/>
                <a:cs typeface="Times New Roman" panose="02020603050405020304" pitchFamily="18" charset="0"/>
              </a:rPr>
              <a:t>, E. W. Gill, P. </a:t>
            </a:r>
            <a:r>
              <a:rPr lang="en-IN" dirty="0" err="1">
                <a:latin typeface="Times New Roman" panose="02020603050405020304" pitchFamily="18" charset="0"/>
                <a:cs typeface="Times New Roman" panose="02020603050405020304" pitchFamily="18" charset="0"/>
              </a:rPr>
              <a:t>Mcguire</a:t>
            </a:r>
            <a:r>
              <a:rPr lang="en-IN" dirty="0">
                <a:latin typeface="Times New Roman" panose="02020603050405020304" pitchFamily="18" charset="0"/>
                <a:cs typeface="Times New Roman" panose="02020603050405020304" pitchFamily="18" charset="0"/>
              </a:rPr>
              <a:t>, D. Power, and C. </a:t>
            </a:r>
            <a:r>
              <a:rPr lang="en-IN" dirty="0" err="1">
                <a:latin typeface="Times New Roman" panose="02020603050405020304" pitchFamily="18" charset="0"/>
                <a:cs typeface="Times New Roman" panose="02020603050405020304" pitchFamily="18" charset="0"/>
              </a:rPr>
              <a:t>Moloney</a:t>
            </a:r>
            <a:r>
              <a:rPr lang="en-IN" dirty="0">
                <a:latin typeface="Times New Roman" panose="02020603050405020304" pitchFamily="18" charset="0"/>
                <a:cs typeface="Times New Roman" panose="02020603050405020304" pitchFamily="18" charset="0"/>
              </a:rPr>
              <a:t>, “Automatic target recognition in synthetic aperture radar imagery: A state-of-the-art review,”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vol. 4, pp. 6014–6058, Sep. 2016.</a:t>
            </a:r>
          </a:p>
          <a:p>
            <a:pPr marL="514350" indent="-514350" algn="just" fontAlgn="base">
              <a:buFont typeface="+mj-lt"/>
              <a:buAutoNum type="arabicPeriod"/>
            </a:pPr>
            <a:endParaRPr lang="en-IN" dirty="0">
              <a:latin typeface="Times New Roman" panose="02020603050405020304" pitchFamily="18" charset="0"/>
              <a:cs typeface="Times New Roman" panose="02020603050405020304" pitchFamily="18" charset="0"/>
            </a:endParaRPr>
          </a:p>
          <a:p>
            <a:pPr marL="514350" indent="-514350" algn="just" fontAlgn="base">
              <a:buFont typeface="+mj-lt"/>
              <a:buAutoNum type="arabicPeriod"/>
            </a:pPr>
            <a:r>
              <a:rPr lang="en-US" dirty="0">
                <a:latin typeface="Times New Roman" panose="02020603050405020304" pitchFamily="18" charset="0"/>
                <a:cs typeface="Times New Roman" panose="02020603050405020304" pitchFamily="18" charset="0"/>
              </a:rPr>
              <a:t>Ahmad, Muhammad </a:t>
            </a:r>
            <a:r>
              <a:rPr lang="en-US" dirty="0" err="1">
                <a:latin typeface="Times New Roman" panose="02020603050405020304" pitchFamily="18" charset="0"/>
                <a:cs typeface="Times New Roman" panose="02020603050405020304" pitchFamily="18" charset="0"/>
              </a:rPr>
              <a:t>Nasar</a:t>
            </a:r>
            <a:r>
              <a:rPr lang="en-US" dirty="0">
                <a:latin typeface="Times New Roman" panose="02020603050405020304" pitchFamily="18" charset="0"/>
                <a:cs typeface="Times New Roman" panose="02020603050405020304" pitchFamily="18" charset="0"/>
              </a:rPr>
              <a:t>, et al. "Advancements in deep learning methods for precise weed and rice classification from UAV imagery: a comprehensive review." Discover Agriculture 4.1 (2026): 8.</a:t>
            </a:r>
            <a:endParaRPr lang="en-IN" dirty="0">
              <a:latin typeface="Times New Roman" panose="02020603050405020304" pitchFamily="18" charset="0"/>
              <a:cs typeface="Times New Roman" panose="02020603050405020304" pitchFamily="18" charset="0"/>
            </a:endParaRPr>
          </a:p>
          <a:p>
            <a:pPr algn="just" fontAlgn="base"/>
            <a:endParaRPr lang="en-IN" dirty="0">
              <a:latin typeface="Times New Roman" panose="02020603050405020304" pitchFamily="18" charset="0"/>
              <a:cs typeface="Times New Roman" panose="02020603050405020304" pitchFamily="18" charset="0"/>
            </a:endParaRPr>
          </a:p>
          <a:p>
            <a:pPr algn="just" fontAlgn="base"/>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3158A4A4-D39D-D5A3-EFB9-E23B700B243E}"/>
              </a:ext>
            </a:extLst>
          </p:cNvPr>
          <p:cNvSpPr>
            <a:spLocks noGrp="1"/>
          </p:cNvSpPr>
          <p:nvPr>
            <p:ph type="sldNum" sz="quarter" idx="12"/>
          </p:nvPr>
        </p:nvSpPr>
        <p:spPr/>
        <p:txBody>
          <a:bodyPr/>
          <a:lstStyle/>
          <a:p>
            <a:fld id="{C1FF6DA9-008F-8B48-92A6-B652298478BF}" type="slidenum">
              <a:rPr lang="en-US" smtClean="0"/>
              <a:t>22</a:t>
            </a:fld>
            <a:endParaRPr lang="en-US" dirty="0"/>
          </a:p>
        </p:txBody>
      </p:sp>
      <p:pic>
        <p:nvPicPr>
          <p:cNvPr id="6" name="Content Placeholder 7">
            <a:extLst>
              <a:ext uri="{FF2B5EF4-FFF2-40B4-BE49-F238E27FC236}">
                <a16:creationId xmlns:a16="http://schemas.microsoft.com/office/drawing/2014/main" xmlns="" id="{6B476194-EE25-F8F0-16FA-5F5DE8E7F0F0}"/>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8EDCE730-6F9B-AA6F-2FA3-B9D6439C124D}"/>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27C2F619-5DC8-07D8-417C-5E8303CFD74F}"/>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F852C5C6-669C-793B-76E8-7768747EC710}"/>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8284452-3B87-58CB-7716-0AA2913BE519}"/>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3C548D25-D3A8-8E3E-8886-592B026EA44D}"/>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AD1C9525-56C1-8940-AB9E-FD2AE3154616}"/>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DCCAAA0F-8DB2-DD62-1E8B-50FBE634C7C8}"/>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3741704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DE7DCFC-2E26-7C36-0D9C-B5BD7D9B0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EED4380-2F2D-47D2-3302-393C49598DAE}"/>
              </a:ext>
            </a:extLst>
          </p:cNvPr>
          <p:cNvSpPr>
            <a:spLocks noGrp="1"/>
          </p:cNvSpPr>
          <p:nvPr>
            <p:ph type="title"/>
          </p:nvPr>
        </p:nvSpPr>
        <p:spPr>
          <a:xfrm>
            <a:off x="995466" y="-3226790"/>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3803DB24-4592-BEC4-E024-DA5B48EA7B59}"/>
              </a:ext>
            </a:extLst>
          </p:cNvPr>
          <p:cNvSpPr>
            <a:spLocks noGrp="1"/>
          </p:cNvSpPr>
          <p:nvPr>
            <p:ph idx="1"/>
          </p:nvPr>
        </p:nvSpPr>
        <p:spPr>
          <a:xfrm>
            <a:off x="457200" y="1538422"/>
            <a:ext cx="11365992" cy="4408678"/>
          </a:xfrm>
        </p:spPr>
        <p:txBody>
          <a:bodyPr>
            <a:normAutofit fontScale="55000" lnSpcReduction="20000"/>
          </a:bodyPr>
          <a:lstStyle/>
          <a:p>
            <a:pPr algn="just" fontAlgn="base"/>
            <a:r>
              <a:rPr lang="en-IN" dirty="0">
                <a:latin typeface="Times New Roman" panose="02020603050405020304" pitchFamily="18" charset="0"/>
                <a:cs typeface="Times New Roman" panose="02020603050405020304" pitchFamily="18" charset="0"/>
              </a:rPr>
              <a:t>6. </a:t>
            </a:r>
            <a:r>
              <a:rPr lang="en-US" dirty="0">
                <a:latin typeface="Times New Roman" panose="02020603050405020304" pitchFamily="18" charset="0"/>
                <a:cs typeface="Times New Roman" panose="02020603050405020304" pitchFamily="18" charset="0"/>
              </a:rPr>
              <a:t>Yuan, </a:t>
            </a:r>
            <a:r>
              <a:rPr lang="en-US" dirty="0" err="1">
                <a:latin typeface="Times New Roman" panose="02020603050405020304" pitchFamily="18" charset="0"/>
                <a:cs typeface="Times New Roman" panose="02020603050405020304" pitchFamily="18" charset="0"/>
              </a:rPr>
              <a:t>Xiaohui</a:t>
            </a:r>
            <a:r>
              <a:rPr lang="en-US" dirty="0">
                <a:latin typeface="Times New Roman" panose="02020603050405020304" pitchFamily="18" charset="0"/>
                <a:cs typeface="Times New Roman" panose="02020603050405020304" pitchFamily="18" charset="0"/>
              </a:rPr>
              <a:t>, et al. "An Empirical Analysis of Deep Learning Methods for Small Object Detection from Satellite Imagery." Expert Systems with Applications (2026): 131061.</a:t>
            </a:r>
            <a:endParaRPr lang="en-IN" dirty="0">
              <a:latin typeface="Times New Roman" panose="02020603050405020304" pitchFamily="18" charset="0"/>
              <a:cs typeface="Times New Roman" panose="02020603050405020304" pitchFamily="18" charset="0"/>
            </a:endParaRPr>
          </a:p>
          <a:p>
            <a:pPr algn="just" fontAlgn="base"/>
            <a:endParaRPr lang="en-IN" dirty="0">
              <a:latin typeface="Times New Roman" panose="02020603050405020304" pitchFamily="18" charset="0"/>
              <a:cs typeface="Times New Roman" panose="02020603050405020304" pitchFamily="18" charset="0"/>
            </a:endParaRPr>
          </a:p>
          <a:p>
            <a:pPr algn="just" fontAlgn="base"/>
            <a:r>
              <a:rPr lang="en-IN" dirty="0">
                <a:latin typeface="Times New Roman" panose="02020603050405020304" pitchFamily="18" charset="0"/>
                <a:cs typeface="Times New Roman" panose="02020603050405020304" pitchFamily="18" charset="0"/>
              </a:rPr>
              <a:t>7. Zhu, </a:t>
            </a:r>
            <a:r>
              <a:rPr lang="en-IN" dirty="0" err="1">
                <a:latin typeface="Times New Roman" panose="02020603050405020304" pitchFamily="18" charset="0"/>
                <a:cs typeface="Times New Roman" panose="02020603050405020304" pitchFamily="18" charset="0"/>
              </a:rPr>
              <a:t>Botao</a:t>
            </a:r>
            <a:r>
              <a:rPr lang="en-IN" dirty="0">
                <a:latin typeface="Times New Roman" panose="02020603050405020304" pitchFamily="18" charset="0"/>
                <a:cs typeface="Times New Roman" panose="02020603050405020304" pitchFamily="18" charset="0"/>
              </a:rPr>
              <a:t>, et al. "Collaborative </a:t>
            </a:r>
            <a:r>
              <a:rPr lang="en-IN" dirty="0" err="1">
                <a:latin typeface="Times New Roman" panose="02020603050405020304" pitchFamily="18" charset="0"/>
                <a:cs typeface="Times New Roman" panose="02020603050405020304" pitchFamily="18" charset="0"/>
              </a:rPr>
              <a:t>hyperspectral</a:t>
            </a:r>
            <a:r>
              <a:rPr lang="en-IN" dirty="0">
                <a:latin typeface="Times New Roman" panose="02020603050405020304" pitchFamily="18" charset="0"/>
                <a:cs typeface="Times New Roman" panose="02020603050405020304" pitchFamily="18" charset="0"/>
              </a:rPr>
              <a:t> image processing using satellite edge computing." IEEE Transactions on Mobile Computing 23.3 (2023): 2241-2253. .</a:t>
            </a:r>
          </a:p>
          <a:p>
            <a:pPr algn="just"/>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fontAlgn="base"/>
            <a:r>
              <a:rPr lang="en-IN" dirty="0">
                <a:latin typeface="Times New Roman" panose="02020603050405020304" pitchFamily="18" charset="0"/>
                <a:cs typeface="Times New Roman" panose="02020603050405020304" pitchFamily="18" charset="0"/>
              </a:rPr>
              <a:t>8. Y. Liu, M.-H. Zhang, P. </a:t>
            </a:r>
            <a:r>
              <a:rPr lang="en-IN" dirty="0" err="1">
                <a:latin typeface="Times New Roman" panose="02020603050405020304" pitchFamily="18" charset="0"/>
                <a:cs typeface="Times New Roman" panose="02020603050405020304" pitchFamily="18" charset="0"/>
              </a:rPr>
              <a:t>Xu</a:t>
            </a:r>
            <a:r>
              <a:rPr lang="en-IN" dirty="0">
                <a:latin typeface="Times New Roman" panose="02020603050405020304" pitchFamily="18" charset="0"/>
                <a:cs typeface="Times New Roman" panose="02020603050405020304" pitchFamily="18" charset="0"/>
              </a:rPr>
              <a:t>, and Z.-W. </a:t>
            </a:r>
            <a:r>
              <a:rPr lang="en-IN" dirty="0" err="1">
                <a:latin typeface="Times New Roman" panose="02020603050405020304" pitchFamily="18" charset="0"/>
                <a:cs typeface="Times New Roman" panose="02020603050405020304" pitchFamily="18" charset="0"/>
              </a:rPr>
              <a:t>Guo</a:t>
            </a:r>
            <a:r>
              <a:rPr lang="en-IN" dirty="0">
                <a:latin typeface="Times New Roman" panose="02020603050405020304" pitchFamily="18" charset="0"/>
                <a:cs typeface="Times New Roman" panose="02020603050405020304" pitchFamily="18" charset="0"/>
              </a:rPr>
              <a:t>, “SAR ship detection using sea-land segmentation-based convolutional neural network,” in Proc. Int. Workshop Remote Sens. </a:t>
            </a:r>
            <a:r>
              <a:rPr lang="en-IN" dirty="0" err="1">
                <a:latin typeface="Times New Roman" panose="02020603050405020304" pitchFamily="18" charset="0"/>
                <a:cs typeface="Times New Roman" panose="02020603050405020304" pitchFamily="18" charset="0"/>
              </a:rPr>
              <a:t>Intell</a:t>
            </a:r>
            <a:r>
              <a:rPr lang="en-IN" dirty="0">
                <a:latin typeface="Times New Roman" panose="02020603050405020304" pitchFamily="18" charset="0"/>
                <a:cs typeface="Times New Roman" panose="02020603050405020304" pitchFamily="18" charset="0"/>
              </a:rPr>
              <a:t>. Process. (RSIP), May 2017, pp. 1–4.</a:t>
            </a:r>
          </a:p>
          <a:p>
            <a:pPr algn="just"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9.</a:t>
            </a:r>
            <a:r>
              <a:rPr lang="en-US" dirty="0">
                <a:latin typeface="Times New Roman" panose="02020603050405020304" pitchFamily="18" charset="0"/>
                <a:cs typeface="Times New Roman" panose="02020603050405020304" pitchFamily="18" charset="0"/>
              </a:rPr>
              <a:t> K. El-</a:t>
            </a:r>
            <a:r>
              <a:rPr lang="en-US" dirty="0" err="1">
                <a:latin typeface="Times New Roman" panose="02020603050405020304" pitchFamily="18" charset="0"/>
                <a:cs typeface="Times New Roman" panose="02020603050405020304" pitchFamily="18" charset="0"/>
              </a:rPr>
              <a:t>Darymli</a:t>
            </a:r>
            <a:r>
              <a:rPr lang="en-US" dirty="0">
                <a:latin typeface="Times New Roman" panose="02020603050405020304" pitchFamily="18" charset="0"/>
                <a:cs typeface="Times New Roman" panose="02020603050405020304" pitchFamily="18" charset="0"/>
              </a:rPr>
              <a:t>, E. W. Gill, P. </a:t>
            </a:r>
            <a:r>
              <a:rPr lang="en-US" dirty="0" err="1">
                <a:latin typeface="Times New Roman" panose="02020603050405020304" pitchFamily="18" charset="0"/>
                <a:cs typeface="Times New Roman" panose="02020603050405020304" pitchFamily="18" charset="0"/>
              </a:rPr>
              <a:t>Mcguire</a:t>
            </a:r>
            <a:r>
              <a:rPr lang="en-US" dirty="0">
                <a:latin typeface="Times New Roman" panose="02020603050405020304" pitchFamily="18" charset="0"/>
                <a:cs typeface="Times New Roman" panose="02020603050405020304" pitchFamily="18" charset="0"/>
              </a:rPr>
              <a:t>, D. Power, and C. </a:t>
            </a:r>
            <a:r>
              <a:rPr lang="en-US" dirty="0" err="1">
                <a:latin typeface="Times New Roman" panose="02020603050405020304" pitchFamily="18" charset="0"/>
                <a:cs typeface="Times New Roman" panose="02020603050405020304" pitchFamily="18" charset="0"/>
              </a:rPr>
              <a:t>Moloney</a:t>
            </a:r>
            <a:r>
              <a:rPr lang="en-US" dirty="0">
                <a:latin typeface="Times New Roman" panose="02020603050405020304" pitchFamily="18" charset="0"/>
                <a:cs typeface="Times New Roman" panose="02020603050405020304" pitchFamily="18" charset="0"/>
              </a:rPr>
              <a:t>, “Automatic target recognition in synthetic aperture radar imagery: A state-of-the-art review,” IEEE Access, vol. 4, pp. 6014–6058, Sep. 2016.</a:t>
            </a:r>
            <a:r>
              <a:rPr lang="en-IN" dirty="0">
                <a:latin typeface="Times New Roman" panose="02020603050405020304" pitchFamily="18" charset="0"/>
                <a:cs typeface="Times New Roman" panose="02020603050405020304" pitchFamily="18" charset="0"/>
              </a:rPr>
              <a:t> Bui</a:t>
            </a:r>
          </a:p>
          <a:p>
            <a:pPr algn="just" fontAlgn="base"/>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10. </a:t>
            </a:r>
            <a:r>
              <a:rPr lang="en-IN" dirty="0" err="1">
                <a:latin typeface="Times New Roman" panose="02020603050405020304" pitchFamily="18" charset="0"/>
                <a:cs typeface="Times New Roman" panose="02020603050405020304" pitchFamily="18" charset="0"/>
              </a:rPr>
              <a:t>Yammanuru</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Likhit</a:t>
            </a:r>
            <a:r>
              <a:rPr lang="en-IN" dirty="0">
                <a:latin typeface="Times New Roman" panose="02020603050405020304" pitchFamily="18" charset="0"/>
                <a:cs typeface="Times New Roman" panose="02020603050405020304" pitchFamily="18" charset="0"/>
              </a:rPr>
              <a:t>, Nikhil Tom Jose, and </a:t>
            </a:r>
            <a:r>
              <a:rPr lang="en-IN" dirty="0" err="1">
                <a:latin typeface="Times New Roman" panose="02020603050405020304" pitchFamily="18" charset="0"/>
                <a:cs typeface="Times New Roman" panose="02020603050405020304" pitchFamily="18" charset="0"/>
              </a:rPr>
              <a:t>Rimjhim</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Padam</a:t>
            </a:r>
            <a:r>
              <a:rPr lang="en-IN" dirty="0">
                <a:latin typeface="Times New Roman" panose="02020603050405020304" pitchFamily="18" charset="0"/>
                <a:cs typeface="Times New Roman" panose="02020603050405020304" pitchFamily="18" charset="0"/>
              </a:rPr>
              <a:t> Singh. "Leveraging Small-Object Detection in Satellite Imagery Using Dual Attention-Augmented Single-Stage CNN Model." International Conference on Applied Algorithms. Cham: Springer Nature Switzerland, 2026.</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3158A4A4-D39D-D5A3-EFB9-E23B700B243E}"/>
              </a:ext>
            </a:extLst>
          </p:cNvPr>
          <p:cNvSpPr>
            <a:spLocks noGrp="1"/>
          </p:cNvSpPr>
          <p:nvPr>
            <p:ph type="sldNum" sz="quarter" idx="12"/>
          </p:nvPr>
        </p:nvSpPr>
        <p:spPr/>
        <p:txBody>
          <a:bodyPr/>
          <a:lstStyle/>
          <a:p>
            <a:fld id="{C1FF6DA9-008F-8B48-92A6-B652298478BF}" type="slidenum">
              <a:rPr lang="en-US" smtClean="0"/>
              <a:t>23</a:t>
            </a:fld>
            <a:endParaRPr lang="en-US" dirty="0"/>
          </a:p>
        </p:txBody>
      </p:sp>
      <p:pic>
        <p:nvPicPr>
          <p:cNvPr id="6" name="Content Placeholder 7">
            <a:extLst>
              <a:ext uri="{FF2B5EF4-FFF2-40B4-BE49-F238E27FC236}">
                <a16:creationId xmlns:a16="http://schemas.microsoft.com/office/drawing/2014/main" xmlns="" id="{6B476194-EE25-F8F0-16FA-5F5DE8E7F0F0}"/>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8EDCE730-6F9B-AA6F-2FA3-B9D6439C124D}"/>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27C2F619-5DC8-07D8-417C-5E8303CFD74F}"/>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F852C5C6-669C-793B-76E8-7768747EC710}"/>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8284452-3B87-58CB-7716-0AA2913BE519}"/>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3C548D25-D3A8-8E3E-8886-592B026EA44D}"/>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AD1C9525-56C1-8940-AB9E-FD2AE3154616}"/>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DCCAAA0F-8DB2-DD62-1E8B-50FBE634C7C8}"/>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2687054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DE7DCFC-2E26-7C36-0D9C-B5BD7D9B0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EED4380-2F2D-47D2-3302-393C49598DAE}"/>
              </a:ext>
            </a:extLst>
          </p:cNvPr>
          <p:cNvSpPr>
            <a:spLocks noGrp="1"/>
          </p:cNvSpPr>
          <p:nvPr>
            <p:ph type="title"/>
          </p:nvPr>
        </p:nvSpPr>
        <p:spPr>
          <a:xfrm>
            <a:off x="995466" y="-3226790"/>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3803DB24-4592-BEC4-E024-DA5B48EA7B59}"/>
              </a:ext>
            </a:extLst>
          </p:cNvPr>
          <p:cNvSpPr>
            <a:spLocks noGrp="1"/>
          </p:cNvSpPr>
          <p:nvPr>
            <p:ph idx="1"/>
          </p:nvPr>
        </p:nvSpPr>
        <p:spPr>
          <a:xfrm>
            <a:off x="457200" y="1538422"/>
            <a:ext cx="11365992" cy="4408678"/>
          </a:xfrm>
        </p:spPr>
        <p:txBody>
          <a:bodyPr>
            <a:normAutofit fontScale="62500" lnSpcReduction="20000"/>
          </a:bodyPr>
          <a:lstStyle/>
          <a:p>
            <a:pPr algn="just" fontAlgn="base"/>
            <a:r>
              <a:rPr lang="en-IN" dirty="0">
                <a:latin typeface="Times New Roman" panose="02020603050405020304" pitchFamily="18" charset="0"/>
                <a:cs typeface="Times New Roman" panose="02020603050405020304" pitchFamily="18" charset="0"/>
              </a:rPr>
              <a:t>11. </a:t>
            </a:r>
            <a:r>
              <a:rPr lang="en-IN" dirty="0" err="1">
                <a:latin typeface="Times New Roman" panose="02020603050405020304" pitchFamily="18" charset="0"/>
                <a:cs typeface="Times New Roman" panose="02020603050405020304" pitchFamily="18" charset="0"/>
              </a:rPr>
              <a:t>Sedeh</a:t>
            </a:r>
            <a:r>
              <a:rPr lang="en-IN" dirty="0">
                <a:latin typeface="Times New Roman" panose="02020603050405020304" pitchFamily="18" charset="0"/>
                <a:cs typeface="Times New Roman" panose="02020603050405020304" pitchFamily="18" charset="0"/>
              </a:rPr>
              <a:t>, Mahdi </a:t>
            </a:r>
            <a:r>
              <a:rPr lang="en-IN" dirty="0" err="1">
                <a:latin typeface="Times New Roman" panose="02020603050405020304" pitchFamily="18" charset="0"/>
                <a:cs typeface="Times New Roman" panose="02020603050405020304" pitchFamily="18" charset="0"/>
              </a:rPr>
              <a:t>Amini</a:t>
            </a:r>
            <a:r>
              <a:rPr lang="en-IN" dirty="0">
                <a:latin typeface="Times New Roman" panose="02020603050405020304" pitchFamily="18" charset="0"/>
                <a:cs typeface="Times New Roman" panose="02020603050405020304" pitchFamily="18" charset="0"/>
              </a:rPr>
              <a:t>, and Saeed </a:t>
            </a:r>
            <a:r>
              <a:rPr lang="en-IN" dirty="0" err="1">
                <a:latin typeface="Times New Roman" panose="02020603050405020304" pitchFamily="18" charset="0"/>
                <a:cs typeface="Times New Roman" panose="02020603050405020304" pitchFamily="18" charset="0"/>
              </a:rPr>
              <a:t>Sharifian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EdgePVM</a:t>
            </a:r>
            <a:r>
              <a:rPr lang="en-IN" dirty="0">
                <a:latin typeface="Times New Roman" panose="02020603050405020304" pitchFamily="18" charset="0"/>
                <a:cs typeface="Times New Roman" panose="02020603050405020304" pitchFamily="18" charset="0"/>
              </a:rPr>
              <a:t>: A </a:t>
            </a:r>
            <a:r>
              <a:rPr lang="en-IN" dirty="0" err="1">
                <a:latin typeface="Times New Roman" panose="02020603050405020304" pitchFamily="18" charset="0"/>
                <a:cs typeface="Times New Roman" panose="02020603050405020304" pitchFamily="18" charset="0"/>
              </a:rPr>
              <a:t>serverless</a:t>
            </a:r>
            <a:r>
              <a:rPr lang="en-IN" dirty="0">
                <a:latin typeface="Times New Roman" panose="02020603050405020304" pitchFamily="18" charset="0"/>
                <a:cs typeface="Times New Roman" panose="02020603050405020304" pitchFamily="18" charset="0"/>
              </a:rPr>
              <a:t> satellite edge computing constellation for changes detection using </a:t>
            </a:r>
            <a:r>
              <a:rPr lang="en-IN" dirty="0" err="1">
                <a:latin typeface="Times New Roman" panose="02020603050405020304" pitchFamily="18" charset="0"/>
                <a:cs typeface="Times New Roman" panose="02020603050405020304" pitchFamily="18" charset="0"/>
              </a:rPr>
              <a:t>onboard</a:t>
            </a:r>
            <a:r>
              <a:rPr lang="en-IN" dirty="0">
                <a:latin typeface="Times New Roman" panose="02020603050405020304" pitchFamily="18" charset="0"/>
                <a:cs typeface="Times New Roman" panose="02020603050405020304" pitchFamily="18" charset="0"/>
              </a:rPr>
              <a:t> parallel </a:t>
            </a:r>
            <a:r>
              <a:rPr lang="en-IN" dirty="0" err="1">
                <a:latin typeface="Times New Roman" panose="02020603050405020304" pitchFamily="18" charset="0"/>
                <a:cs typeface="Times New Roman" panose="02020603050405020304" pitchFamily="18" charset="0"/>
              </a:rPr>
              <a:t>siamese</a:t>
            </a:r>
            <a:r>
              <a:rPr lang="en-IN" dirty="0">
                <a:latin typeface="Times New Roman" panose="02020603050405020304" pitchFamily="18" charset="0"/>
                <a:cs typeface="Times New Roman" panose="02020603050405020304" pitchFamily="18" charset="0"/>
              </a:rPr>
              <a:t> vision MAMBA." Future Generation Computer Systems 174 (2026): 107985.</a:t>
            </a:r>
          </a:p>
          <a:p>
            <a:pPr algn="just"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12. </a:t>
            </a:r>
            <a:r>
              <a:rPr lang="en-US" dirty="0">
                <a:latin typeface="Times New Roman" panose="02020603050405020304" pitchFamily="18" charset="0"/>
                <a:cs typeface="Times New Roman" panose="02020603050405020304" pitchFamily="18" charset="0"/>
              </a:rPr>
              <a:t>Kang, </a:t>
            </a:r>
            <a:r>
              <a:rPr lang="en-US" dirty="0" err="1">
                <a:latin typeface="Times New Roman" panose="02020603050405020304" pitchFamily="18" charset="0"/>
                <a:cs typeface="Times New Roman" panose="02020603050405020304" pitchFamily="18" charset="0"/>
              </a:rPr>
              <a:t>Junhyung</a:t>
            </a:r>
            <a:r>
              <a:rPr lang="en-US" dirty="0">
                <a:latin typeface="Times New Roman" panose="02020603050405020304" pitchFamily="18" charset="0"/>
                <a:cs typeface="Times New Roman" panose="02020603050405020304" pitchFamily="18" charset="0"/>
              </a:rPr>
              <a:t>, et al. "A survey of deep learning-based object detection methods and datasets for overhead imagery." </a:t>
            </a:r>
            <a:r>
              <a:rPr lang="en-US" dirty="0" err="1">
                <a:latin typeface="Times New Roman" panose="02020603050405020304" pitchFamily="18" charset="0"/>
                <a:cs typeface="Times New Roman" panose="02020603050405020304" pitchFamily="18" charset="0"/>
              </a:rPr>
              <a:t>Ieee</a:t>
            </a:r>
            <a:r>
              <a:rPr lang="en-US" dirty="0">
                <a:latin typeface="Times New Roman" panose="02020603050405020304" pitchFamily="18" charset="0"/>
                <a:cs typeface="Times New Roman" panose="02020603050405020304" pitchFamily="18" charset="0"/>
              </a:rPr>
              <a:t> Access 10 (2022): 20118-20134.</a:t>
            </a:r>
          </a:p>
          <a:p>
            <a:pPr algn="just"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13. Pang, Y., Cheng, S., Hu, J., Liu, Y.: Robust satellite image classification with Bayesian deep learning. In: 2022 Integrated Communication, Navigation and Surveillance Conference (ICNS), pp. 1–8 (2022) </a:t>
            </a:r>
          </a:p>
          <a:p>
            <a:pPr algn="just"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14. Hernández, Daniel, et al. "Flood detection using real-time image segmentation from unmanned aerial vehicles on edge-computing platform." </a:t>
            </a:r>
            <a:r>
              <a:rPr lang="en-IN" i="1" dirty="0">
                <a:latin typeface="Times New Roman" panose="02020603050405020304" pitchFamily="18" charset="0"/>
                <a:cs typeface="Times New Roman" panose="02020603050405020304" pitchFamily="18" charset="0"/>
              </a:rPr>
              <a:t>remote Sensing</a:t>
            </a:r>
            <a:r>
              <a:rPr lang="en-IN" dirty="0">
                <a:latin typeface="Times New Roman" panose="02020603050405020304" pitchFamily="18" charset="0"/>
                <a:cs typeface="Times New Roman" panose="02020603050405020304" pitchFamily="18" charset="0"/>
              </a:rPr>
              <a:t> 14.1 (2022): 223..</a:t>
            </a:r>
          </a:p>
          <a:p>
            <a:pPr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15. </a:t>
            </a:r>
            <a:r>
              <a:rPr lang="en-US" dirty="0" err="1">
                <a:latin typeface="Times New Roman" panose="02020603050405020304" pitchFamily="18" charset="0"/>
                <a:cs typeface="Times New Roman" panose="02020603050405020304" pitchFamily="18" charset="0"/>
              </a:rPr>
              <a:t>Ghandorh</a:t>
            </a:r>
            <a:r>
              <a:rPr lang="en-US" dirty="0">
                <a:latin typeface="Times New Roman" panose="02020603050405020304" pitchFamily="18" charset="0"/>
                <a:cs typeface="Times New Roman" panose="02020603050405020304" pitchFamily="18" charset="0"/>
              </a:rPr>
              <a:t>, Hamza, et al. "Semantic segmentation and edge detection-Approach to road detection in very high resolution satellite images." </a:t>
            </a:r>
            <a:r>
              <a:rPr lang="en-US" i="1" dirty="0">
                <a:latin typeface="Times New Roman" panose="02020603050405020304" pitchFamily="18" charset="0"/>
                <a:cs typeface="Times New Roman" panose="02020603050405020304" pitchFamily="18" charset="0"/>
              </a:rPr>
              <a:t>Remote Sensing</a:t>
            </a:r>
            <a:r>
              <a:rPr lang="en-US" dirty="0">
                <a:latin typeface="Times New Roman" panose="02020603050405020304" pitchFamily="18" charset="0"/>
                <a:cs typeface="Times New Roman" panose="02020603050405020304" pitchFamily="18" charset="0"/>
              </a:rPr>
              <a:t> 14.3 (2022): 613.</a:t>
            </a: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3158A4A4-D39D-D5A3-EFB9-E23B700B243E}"/>
              </a:ext>
            </a:extLst>
          </p:cNvPr>
          <p:cNvSpPr>
            <a:spLocks noGrp="1"/>
          </p:cNvSpPr>
          <p:nvPr>
            <p:ph type="sldNum" sz="quarter" idx="12"/>
          </p:nvPr>
        </p:nvSpPr>
        <p:spPr/>
        <p:txBody>
          <a:bodyPr/>
          <a:lstStyle/>
          <a:p>
            <a:fld id="{C1FF6DA9-008F-8B48-92A6-B652298478BF}" type="slidenum">
              <a:rPr lang="en-US" smtClean="0"/>
              <a:t>24</a:t>
            </a:fld>
            <a:endParaRPr lang="en-US" dirty="0"/>
          </a:p>
        </p:txBody>
      </p:sp>
      <p:pic>
        <p:nvPicPr>
          <p:cNvPr id="6" name="Content Placeholder 7">
            <a:extLst>
              <a:ext uri="{FF2B5EF4-FFF2-40B4-BE49-F238E27FC236}">
                <a16:creationId xmlns:a16="http://schemas.microsoft.com/office/drawing/2014/main" xmlns="" id="{6B476194-EE25-F8F0-16FA-5F5DE8E7F0F0}"/>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8EDCE730-6F9B-AA6F-2FA3-B9D6439C124D}"/>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27C2F619-5DC8-07D8-417C-5E8303CFD74F}"/>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F852C5C6-669C-793B-76E8-7768747EC710}"/>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8284452-3B87-58CB-7716-0AA2913BE519}"/>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3C548D25-D3A8-8E3E-8886-592B026EA44D}"/>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AD1C9525-56C1-8940-AB9E-FD2AE3154616}"/>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DCCAAA0F-8DB2-DD62-1E8B-50FBE634C7C8}"/>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3378869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DE7DCFC-2E26-7C36-0D9C-B5BD7D9B0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EED4380-2F2D-47D2-3302-393C49598DAE}"/>
              </a:ext>
            </a:extLst>
          </p:cNvPr>
          <p:cNvSpPr>
            <a:spLocks noGrp="1"/>
          </p:cNvSpPr>
          <p:nvPr>
            <p:ph type="title"/>
          </p:nvPr>
        </p:nvSpPr>
        <p:spPr>
          <a:xfrm>
            <a:off x="995466" y="-3226790"/>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3803DB24-4592-BEC4-E024-DA5B48EA7B59}"/>
              </a:ext>
            </a:extLst>
          </p:cNvPr>
          <p:cNvSpPr>
            <a:spLocks noGrp="1"/>
          </p:cNvSpPr>
          <p:nvPr>
            <p:ph idx="1"/>
          </p:nvPr>
        </p:nvSpPr>
        <p:spPr>
          <a:xfrm>
            <a:off x="457200" y="1538422"/>
            <a:ext cx="11365992" cy="4408678"/>
          </a:xfrm>
        </p:spPr>
        <p:txBody>
          <a:bodyPr>
            <a:normAutofit fontScale="62500" lnSpcReduction="20000"/>
          </a:bodyPr>
          <a:lstStyle/>
          <a:p>
            <a:pPr algn="just" fontAlgn="base"/>
            <a:r>
              <a:rPr lang="en-IN" dirty="0">
                <a:latin typeface="Times New Roman" panose="02020603050405020304" pitchFamily="18" charset="0"/>
                <a:cs typeface="Times New Roman" panose="02020603050405020304" pitchFamily="18" charset="0"/>
              </a:rPr>
              <a:t>11. </a:t>
            </a:r>
            <a:r>
              <a:rPr lang="en-IN" dirty="0" err="1">
                <a:latin typeface="Times New Roman" panose="02020603050405020304" pitchFamily="18" charset="0"/>
                <a:cs typeface="Times New Roman" panose="02020603050405020304" pitchFamily="18" charset="0"/>
              </a:rPr>
              <a:t>Sedeh</a:t>
            </a:r>
            <a:r>
              <a:rPr lang="en-IN" dirty="0">
                <a:latin typeface="Times New Roman" panose="02020603050405020304" pitchFamily="18" charset="0"/>
                <a:cs typeface="Times New Roman" panose="02020603050405020304" pitchFamily="18" charset="0"/>
              </a:rPr>
              <a:t>, Mahdi </a:t>
            </a:r>
            <a:r>
              <a:rPr lang="en-IN" dirty="0" err="1">
                <a:latin typeface="Times New Roman" panose="02020603050405020304" pitchFamily="18" charset="0"/>
                <a:cs typeface="Times New Roman" panose="02020603050405020304" pitchFamily="18" charset="0"/>
              </a:rPr>
              <a:t>Amini</a:t>
            </a:r>
            <a:r>
              <a:rPr lang="en-IN" dirty="0">
                <a:latin typeface="Times New Roman" panose="02020603050405020304" pitchFamily="18" charset="0"/>
                <a:cs typeface="Times New Roman" panose="02020603050405020304" pitchFamily="18" charset="0"/>
              </a:rPr>
              <a:t>, and Saeed </a:t>
            </a:r>
            <a:r>
              <a:rPr lang="en-IN" dirty="0" err="1">
                <a:latin typeface="Times New Roman" panose="02020603050405020304" pitchFamily="18" charset="0"/>
                <a:cs typeface="Times New Roman" panose="02020603050405020304" pitchFamily="18" charset="0"/>
              </a:rPr>
              <a:t>Sharifian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EdgePVM</a:t>
            </a:r>
            <a:r>
              <a:rPr lang="en-IN" dirty="0">
                <a:latin typeface="Times New Roman" panose="02020603050405020304" pitchFamily="18" charset="0"/>
                <a:cs typeface="Times New Roman" panose="02020603050405020304" pitchFamily="18" charset="0"/>
              </a:rPr>
              <a:t>: A </a:t>
            </a:r>
            <a:r>
              <a:rPr lang="en-IN" dirty="0" err="1">
                <a:latin typeface="Times New Roman" panose="02020603050405020304" pitchFamily="18" charset="0"/>
                <a:cs typeface="Times New Roman" panose="02020603050405020304" pitchFamily="18" charset="0"/>
              </a:rPr>
              <a:t>serverless</a:t>
            </a:r>
            <a:r>
              <a:rPr lang="en-IN" dirty="0">
                <a:latin typeface="Times New Roman" panose="02020603050405020304" pitchFamily="18" charset="0"/>
                <a:cs typeface="Times New Roman" panose="02020603050405020304" pitchFamily="18" charset="0"/>
              </a:rPr>
              <a:t> satellite edge computing constellation for changes detection using </a:t>
            </a:r>
            <a:r>
              <a:rPr lang="en-IN" dirty="0" err="1">
                <a:latin typeface="Times New Roman" panose="02020603050405020304" pitchFamily="18" charset="0"/>
                <a:cs typeface="Times New Roman" panose="02020603050405020304" pitchFamily="18" charset="0"/>
              </a:rPr>
              <a:t>onboard</a:t>
            </a:r>
            <a:r>
              <a:rPr lang="en-IN" dirty="0">
                <a:latin typeface="Times New Roman" panose="02020603050405020304" pitchFamily="18" charset="0"/>
                <a:cs typeface="Times New Roman" panose="02020603050405020304" pitchFamily="18" charset="0"/>
              </a:rPr>
              <a:t> parallel </a:t>
            </a:r>
            <a:r>
              <a:rPr lang="en-IN" dirty="0" err="1">
                <a:latin typeface="Times New Roman" panose="02020603050405020304" pitchFamily="18" charset="0"/>
                <a:cs typeface="Times New Roman" panose="02020603050405020304" pitchFamily="18" charset="0"/>
              </a:rPr>
              <a:t>siamese</a:t>
            </a:r>
            <a:r>
              <a:rPr lang="en-IN" dirty="0">
                <a:latin typeface="Times New Roman" panose="02020603050405020304" pitchFamily="18" charset="0"/>
                <a:cs typeface="Times New Roman" panose="02020603050405020304" pitchFamily="18" charset="0"/>
              </a:rPr>
              <a:t> vision MAMBA." Future Generation Computer Systems 174 (2026): 107985.</a:t>
            </a:r>
          </a:p>
          <a:p>
            <a:pPr algn="just"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12. </a:t>
            </a:r>
            <a:r>
              <a:rPr lang="en-US" dirty="0">
                <a:latin typeface="Times New Roman" panose="02020603050405020304" pitchFamily="18" charset="0"/>
                <a:cs typeface="Times New Roman" panose="02020603050405020304" pitchFamily="18" charset="0"/>
              </a:rPr>
              <a:t>Kang, </a:t>
            </a:r>
            <a:r>
              <a:rPr lang="en-US" dirty="0" err="1">
                <a:latin typeface="Times New Roman" panose="02020603050405020304" pitchFamily="18" charset="0"/>
                <a:cs typeface="Times New Roman" panose="02020603050405020304" pitchFamily="18" charset="0"/>
              </a:rPr>
              <a:t>Junhyung</a:t>
            </a:r>
            <a:r>
              <a:rPr lang="en-US" dirty="0">
                <a:latin typeface="Times New Roman" panose="02020603050405020304" pitchFamily="18" charset="0"/>
                <a:cs typeface="Times New Roman" panose="02020603050405020304" pitchFamily="18" charset="0"/>
              </a:rPr>
              <a:t>, et al. "A survey of deep learning-based object detection methods and datasets for overhead imagery." </a:t>
            </a:r>
            <a:r>
              <a:rPr lang="en-US" dirty="0" err="1">
                <a:latin typeface="Times New Roman" panose="02020603050405020304" pitchFamily="18" charset="0"/>
                <a:cs typeface="Times New Roman" panose="02020603050405020304" pitchFamily="18" charset="0"/>
              </a:rPr>
              <a:t>Ieee</a:t>
            </a:r>
            <a:r>
              <a:rPr lang="en-US" dirty="0">
                <a:latin typeface="Times New Roman" panose="02020603050405020304" pitchFamily="18" charset="0"/>
                <a:cs typeface="Times New Roman" panose="02020603050405020304" pitchFamily="18" charset="0"/>
              </a:rPr>
              <a:t> Access 10 (2022): 20118-20134.</a:t>
            </a:r>
          </a:p>
          <a:p>
            <a:pPr algn="just"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13. Pang, Y., Cheng, S., Hu, J., Liu, Y.: Robust satellite image classification with Bayesian deep learning. In: 2022 Integrated Communication, Navigation and Surveillance Conference (ICNS), pp. 1–8 (2022) </a:t>
            </a:r>
          </a:p>
          <a:p>
            <a:pPr algn="just"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14. Hernández, Daniel, et al. "Flood detection using real-time image segmentation from unmanned aerial vehicles on edge-computing platform." </a:t>
            </a:r>
            <a:r>
              <a:rPr lang="en-IN" i="1" dirty="0">
                <a:latin typeface="Times New Roman" panose="02020603050405020304" pitchFamily="18" charset="0"/>
                <a:cs typeface="Times New Roman" panose="02020603050405020304" pitchFamily="18" charset="0"/>
              </a:rPr>
              <a:t>remote Sensing</a:t>
            </a:r>
            <a:r>
              <a:rPr lang="en-IN" dirty="0">
                <a:latin typeface="Times New Roman" panose="02020603050405020304" pitchFamily="18" charset="0"/>
                <a:cs typeface="Times New Roman" panose="02020603050405020304" pitchFamily="18" charset="0"/>
              </a:rPr>
              <a:t> 14.1 (2022): 223..</a:t>
            </a:r>
          </a:p>
          <a:p>
            <a:pPr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15. </a:t>
            </a:r>
            <a:r>
              <a:rPr lang="en-US" dirty="0" err="1">
                <a:latin typeface="Times New Roman" panose="02020603050405020304" pitchFamily="18" charset="0"/>
                <a:cs typeface="Times New Roman" panose="02020603050405020304" pitchFamily="18" charset="0"/>
              </a:rPr>
              <a:t>Ghandorh</a:t>
            </a:r>
            <a:r>
              <a:rPr lang="en-US" dirty="0">
                <a:latin typeface="Times New Roman" panose="02020603050405020304" pitchFamily="18" charset="0"/>
                <a:cs typeface="Times New Roman" panose="02020603050405020304" pitchFamily="18" charset="0"/>
              </a:rPr>
              <a:t>, Hamza, et al. "Semantic segmentation and edge detection-Approach to road detection in very high resolution satellite images." </a:t>
            </a:r>
            <a:r>
              <a:rPr lang="en-US" i="1" dirty="0">
                <a:latin typeface="Times New Roman" panose="02020603050405020304" pitchFamily="18" charset="0"/>
                <a:cs typeface="Times New Roman" panose="02020603050405020304" pitchFamily="18" charset="0"/>
              </a:rPr>
              <a:t>Remote Sensing</a:t>
            </a:r>
            <a:r>
              <a:rPr lang="en-US" dirty="0">
                <a:latin typeface="Times New Roman" panose="02020603050405020304" pitchFamily="18" charset="0"/>
                <a:cs typeface="Times New Roman" panose="02020603050405020304" pitchFamily="18" charset="0"/>
              </a:rPr>
              <a:t> 14.3 (2022): 613.</a:t>
            </a: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3158A4A4-D39D-D5A3-EFB9-E23B700B243E}"/>
              </a:ext>
            </a:extLst>
          </p:cNvPr>
          <p:cNvSpPr>
            <a:spLocks noGrp="1"/>
          </p:cNvSpPr>
          <p:nvPr>
            <p:ph type="sldNum" sz="quarter" idx="12"/>
          </p:nvPr>
        </p:nvSpPr>
        <p:spPr/>
        <p:txBody>
          <a:bodyPr/>
          <a:lstStyle/>
          <a:p>
            <a:fld id="{C1FF6DA9-008F-8B48-92A6-B652298478BF}" type="slidenum">
              <a:rPr lang="en-US" smtClean="0"/>
              <a:t>25</a:t>
            </a:fld>
            <a:endParaRPr lang="en-US" dirty="0"/>
          </a:p>
        </p:txBody>
      </p:sp>
      <p:pic>
        <p:nvPicPr>
          <p:cNvPr id="6" name="Content Placeholder 7">
            <a:extLst>
              <a:ext uri="{FF2B5EF4-FFF2-40B4-BE49-F238E27FC236}">
                <a16:creationId xmlns:a16="http://schemas.microsoft.com/office/drawing/2014/main" xmlns="" id="{6B476194-EE25-F8F0-16FA-5F5DE8E7F0F0}"/>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8EDCE730-6F9B-AA6F-2FA3-B9D6439C124D}"/>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27C2F619-5DC8-07D8-417C-5E8303CFD74F}"/>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F852C5C6-669C-793B-76E8-7768747EC710}"/>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8284452-3B87-58CB-7716-0AA2913BE519}"/>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3C548D25-D3A8-8E3E-8886-592B026EA44D}"/>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AD1C9525-56C1-8940-AB9E-FD2AE3154616}"/>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DCCAAA0F-8DB2-DD62-1E8B-50FBE634C7C8}"/>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2109448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DE7DCFC-2E26-7C36-0D9C-B5BD7D9B0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EED4380-2F2D-47D2-3302-393C49598DAE}"/>
              </a:ext>
            </a:extLst>
          </p:cNvPr>
          <p:cNvSpPr>
            <a:spLocks noGrp="1"/>
          </p:cNvSpPr>
          <p:nvPr>
            <p:ph type="title"/>
          </p:nvPr>
        </p:nvSpPr>
        <p:spPr>
          <a:xfrm>
            <a:off x="995466" y="-3226790"/>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3803DB24-4592-BEC4-E024-DA5B48EA7B59}"/>
              </a:ext>
            </a:extLst>
          </p:cNvPr>
          <p:cNvSpPr>
            <a:spLocks noGrp="1"/>
          </p:cNvSpPr>
          <p:nvPr>
            <p:ph idx="1"/>
          </p:nvPr>
        </p:nvSpPr>
        <p:spPr>
          <a:xfrm>
            <a:off x="457200" y="1538422"/>
            <a:ext cx="11365992" cy="4408678"/>
          </a:xfrm>
        </p:spPr>
        <p:txBody>
          <a:bodyPr>
            <a:normAutofit fontScale="47500" lnSpcReduction="20000"/>
          </a:bodyPr>
          <a:lstStyle/>
          <a:p>
            <a:pPr algn="just" fontAlgn="base"/>
            <a:r>
              <a:rPr lang="en-IN" dirty="0">
                <a:latin typeface="Times New Roman" panose="02020603050405020304" pitchFamily="18" charset="0"/>
                <a:cs typeface="Times New Roman" panose="02020603050405020304" pitchFamily="18" charset="0"/>
              </a:rPr>
              <a:t>16. </a:t>
            </a:r>
            <a:r>
              <a:rPr lang="en-US" dirty="0">
                <a:latin typeface="Times New Roman" panose="02020603050405020304" pitchFamily="18" charset="0"/>
                <a:cs typeface="Times New Roman" panose="02020603050405020304" pitchFamily="18" charset="0"/>
              </a:rPr>
              <a:t>Yeung, Henry Wing Fung, et al. "Deep-learning-based solution for data deficient satellite image segmentation." </a:t>
            </a:r>
            <a:r>
              <a:rPr lang="en-US" i="1" dirty="0">
                <a:latin typeface="Times New Roman" panose="02020603050405020304" pitchFamily="18" charset="0"/>
                <a:cs typeface="Times New Roman" panose="02020603050405020304" pitchFamily="18" charset="0"/>
              </a:rPr>
              <a:t>Expert Systems with Applications</a:t>
            </a:r>
            <a:r>
              <a:rPr lang="en-US" dirty="0">
                <a:latin typeface="Times New Roman" panose="02020603050405020304" pitchFamily="18" charset="0"/>
                <a:cs typeface="Times New Roman" panose="02020603050405020304" pitchFamily="18" charset="0"/>
              </a:rPr>
              <a:t> 191 (2022): 116210.</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algn="just" fontAlgn="base"/>
            <a:r>
              <a:rPr lang="en-IN" dirty="0">
                <a:latin typeface="Times New Roman" panose="02020603050405020304" pitchFamily="18" charset="0"/>
                <a:cs typeface="Times New Roman" panose="02020603050405020304" pitchFamily="18" charset="0"/>
              </a:rPr>
              <a:t>17. </a:t>
            </a:r>
            <a:r>
              <a:rPr lang="en-US" dirty="0">
                <a:latin typeface="Times New Roman" panose="02020603050405020304" pitchFamily="18" charset="0"/>
                <a:cs typeface="Times New Roman" panose="02020603050405020304" pitchFamily="18" charset="0"/>
              </a:rPr>
              <a:t>Wang, Y., </a:t>
            </a:r>
            <a:r>
              <a:rPr lang="en-US" dirty="0" err="1">
                <a:latin typeface="Times New Roman" panose="02020603050405020304" pitchFamily="18" charset="0"/>
                <a:cs typeface="Times New Roman" panose="02020603050405020304" pitchFamily="18" charset="0"/>
              </a:rPr>
              <a:t>Zorzi</a:t>
            </a:r>
            <a:r>
              <a:rPr lang="en-US" dirty="0">
                <a:latin typeface="Times New Roman" panose="02020603050405020304" pitchFamily="18" charset="0"/>
                <a:cs typeface="Times New Roman" panose="02020603050405020304" pitchFamily="18" charset="0"/>
              </a:rPr>
              <a:t>, S., Bittner, K.: Machine-learned 3D building </a:t>
            </a:r>
            <a:r>
              <a:rPr lang="en-US" dirty="0" err="1">
                <a:latin typeface="Times New Roman" panose="02020603050405020304" pitchFamily="18" charset="0"/>
                <a:cs typeface="Times New Roman" panose="02020603050405020304" pitchFamily="18" charset="0"/>
              </a:rPr>
              <a:t>vectorization</a:t>
            </a:r>
            <a:r>
              <a:rPr lang="en-US" dirty="0">
                <a:latin typeface="Times New Roman" panose="02020603050405020304" pitchFamily="18" charset="0"/>
                <a:cs typeface="Times New Roman" panose="02020603050405020304" pitchFamily="18" charset="0"/>
              </a:rPr>
              <a:t> from satellite imagery (2021)</a:t>
            </a:r>
          </a:p>
          <a:p>
            <a:pPr algn="just" fontAlgn="base"/>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fontAlgn="base"/>
            <a:r>
              <a:rPr lang="en-IN" dirty="0">
                <a:latin typeface="Times New Roman" panose="02020603050405020304" pitchFamily="18" charset="0"/>
                <a:cs typeface="Times New Roman" panose="02020603050405020304" pitchFamily="18" charset="0"/>
              </a:rPr>
              <a:t>18. </a:t>
            </a:r>
            <a:r>
              <a:rPr lang="en-US" dirty="0">
                <a:latin typeface="Times New Roman" panose="02020603050405020304" pitchFamily="18" charset="0"/>
                <a:cs typeface="Times New Roman" panose="02020603050405020304" pitchFamily="18" charset="0"/>
              </a:rPr>
              <a:t>Wei, </a:t>
            </a:r>
            <a:r>
              <a:rPr lang="en-US" dirty="0" err="1">
                <a:latin typeface="Times New Roman" panose="02020603050405020304" pitchFamily="18" charset="0"/>
                <a:cs typeface="Times New Roman" panose="02020603050405020304" pitchFamily="18" charset="0"/>
              </a:rPr>
              <a:t>Shunjun</a:t>
            </a:r>
            <a:r>
              <a:rPr lang="en-US" dirty="0">
                <a:latin typeface="Times New Roman" panose="02020603050405020304" pitchFamily="18" charset="0"/>
                <a:cs typeface="Times New Roman" panose="02020603050405020304" pitchFamily="18" charset="0"/>
              </a:rPr>
              <a:t>, et al. "HRSID: A high-resolution SAR images dataset for ship detection and instance segmentation." </a:t>
            </a:r>
            <a:r>
              <a:rPr lang="en-US" dirty="0" err="1">
                <a:latin typeface="Times New Roman" panose="02020603050405020304" pitchFamily="18" charset="0"/>
                <a:cs typeface="Times New Roman" panose="02020603050405020304" pitchFamily="18" charset="0"/>
              </a:rPr>
              <a:t>Ieee</a:t>
            </a:r>
            <a:r>
              <a:rPr lang="en-US" dirty="0">
                <a:latin typeface="Times New Roman" panose="02020603050405020304" pitchFamily="18" charset="0"/>
                <a:cs typeface="Times New Roman" panose="02020603050405020304" pitchFamily="18" charset="0"/>
              </a:rPr>
              <a:t> Access 8 (2020): 120234-120254.</a:t>
            </a:r>
          </a:p>
          <a:p>
            <a:pPr algn="just"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19. Othman, Mohamed Ahmed Mohamed Hassan. "Detecting Spatial Information from Satellite Imagery using Deep Learning for Semantic Segmentation." Detecting Spatial Information from Satellite Imagery using Deep Learning for Semantic Segmentation (2023).</a:t>
            </a:r>
          </a:p>
          <a:p>
            <a:pPr algn="just" fontAlgn="base"/>
            <a:endParaRPr lang="en-IN" dirty="0">
              <a:latin typeface="Times New Roman" panose="02020603050405020304" pitchFamily="18" charset="0"/>
              <a:cs typeface="Times New Roman" panose="02020603050405020304" pitchFamily="18" charset="0"/>
            </a:endParaRPr>
          </a:p>
          <a:p>
            <a:pPr algn="just" fontAlgn="base"/>
            <a:r>
              <a:rPr lang="en-IN" dirty="0">
                <a:latin typeface="Times New Roman" panose="02020603050405020304" pitchFamily="18" charset="0"/>
                <a:cs typeface="Times New Roman" panose="02020603050405020304" pitchFamily="18" charset="0"/>
              </a:rPr>
              <a:t>20. </a:t>
            </a:r>
            <a:r>
              <a:rPr lang="en-IN" dirty="0" err="1">
                <a:latin typeface="Times New Roman" panose="02020603050405020304" pitchFamily="18" charset="0"/>
                <a:cs typeface="Times New Roman" panose="02020603050405020304" pitchFamily="18" charset="0"/>
              </a:rPr>
              <a:t>Kadhim</a:t>
            </a:r>
            <a:r>
              <a:rPr lang="en-IN" dirty="0">
                <a:latin typeface="Times New Roman" panose="02020603050405020304" pitchFamily="18" charset="0"/>
                <a:cs typeface="Times New Roman" panose="02020603050405020304" pitchFamily="18" charset="0"/>
              </a:rPr>
              <a:t>, Mohammed Abbas, and Mohammed </a:t>
            </a:r>
            <a:r>
              <a:rPr lang="en-IN" dirty="0" err="1">
                <a:latin typeface="Times New Roman" panose="02020603050405020304" pitchFamily="18" charset="0"/>
                <a:cs typeface="Times New Roman" panose="02020603050405020304" pitchFamily="18" charset="0"/>
              </a:rPr>
              <a:t>Hamzah</a:t>
            </a:r>
            <a:r>
              <a:rPr lang="en-IN" dirty="0">
                <a:latin typeface="Times New Roman" panose="02020603050405020304" pitchFamily="18" charset="0"/>
                <a:cs typeface="Times New Roman" panose="02020603050405020304" pitchFamily="18" charset="0"/>
              </a:rPr>
              <a:t> Abed. "Convolutional neural network for satellite image classification." </a:t>
            </a:r>
            <a:r>
              <a:rPr lang="en-IN" i="1" dirty="0">
                <a:latin typeface="Times New Roman" panose="02020603050405020304" pitchFamily="18" charset="0"/>
                <a:cs typeface="Times New Roman" panose="02020603050405020304" pitchFamily="18" charset="0"/>
              </a:rPr>
              <a:t>Asian Conference on Intelligent Information and Database Systems</a:t>
            </a:r>
            <a:r>
              <a:rPr lang="en-IN" dirty="0">
                <a:latin typeface="Times New Roman" panose="02020603050405020304" pitchFamily="18" charset="0"/>
                <a:cs typeface="Times New Roman" panose="02020603050405020304" pitchFamily="18" charset="0"/>
              </a:rPr>
              <a:t>. Cham: Springer International Publishing, 2019.</a:t>
            </a:r>
          </a:p>
          <a:p>
            <a:pPr algn="just" fontAlgn="base"/>
            <a:endParaRPr lang="en-IN" dirty="0">
              <a:latin typeface="Times New Roman" panose="02020603050405020304" pitchFamily="18" charset="0"/>
              <a:cs typeface="Times New Roman" panose="02020603050405020304" pitchFamily="18" charset="0"/>
            </a:endParaRPr>
          </a:p>
          <a:p>
            <a:pPr algn="just" fontAlgn="base"/>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xmlns="" id="{3158A4A4-D39D-D5A3-EFB9-E23B700B243E}"/>
              </a:ext>
            </a:extLst>
          </p:cNvPr>
          <p:cNvSpPr>
            <a:spLocks noGrp="1"/>
          </p:cNvSpPr>
          <p:nvPr>
            <p:ph type="sldNum" sz="quarter" idx="12"/>
          </p:nvPr>
        </p:nvSpPr>
        <p:spPr/>
        <p:txBody>
          <a:bodyPr/>
          <a:lstStyle/>
          <a:p>
            <a:fld id="{C1FF6DA9-008F-8B48-92A6-B652298478BF}" type="slidenum">
              <a:rPr lang="en-US" smtClean="0"/>
              <a:t>26</a:t>
            </a:fld>
            <a:endParaRPr lang="en-US" dirty="0"/>
          </a:p>
        </p:txBody>
      </p:sp>
      <p:pic>
        <p:nvPicPr>
          <p:cNvPr id="6" name="Content Placeholder 7">
            <a:extLst>
              <a:ext uri="{FF2B5EF4-FFF2-40B4-BE49-F238E27FC236}">
                <a16:creationId xmlns:a16="http://schemas.microsoft.com/office/drawing/2014/main" xmlns="" id="{6B476194-EE25-F8F0-16FA-5F5DE8E7F0F0}"/>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8EDCE730-6F9B-AA6F-2FA3-B9D6439C124D}"/>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27C2F619-5DC8-07D8-417C-5E8303CFD74F}"/>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F852C5C6-669C-793B-76E8-7768747EC710}"/>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8284452-3B87-58CB-7716-0AA2913BE519}"/>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3C548D25-D3A8-8E3E-8886-592B026EA44D}"/>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AD1C9525-56C1-8940-AB9E-FD2AE3154616}"/>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DCCAAA0F-8DB2-DD62-1E8B-50FBE634C7C8}"/>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3017101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DE7DCFC-2E26-7C36-0D9C-B5BD7D9B0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EED4380-2F2D-47D2-3302-393C49598DAE}"/>
              </a:ext>
            </a:extLst>
          </p:cNvPr>
          <p:cNvSpPr>
            <a:spLocks noGrp="1"/>
          </p:cNvSpPr>
          <p:nvPr>
            <p:ph type="title"/>
          </p:nvPr>
        </p:nvSpPr>
        <p:spPr>
          <a:xfrm>
            <a:off x="995466" y="-3226790"/>
            <a:ext cx="11365992" cy="679038"/>
          </a:xfrm>
        </p:spPr>
        <p:txBody>
          <a:bodyPr>
            <a:normAutofit fontScale="90000"/>
          </a:bodyPr>
          <a:lstStyle/>
          <a:p>
            <a:pPr algn="l"/>
            <a:endParaRPr lang="en-US" dirty="0"/>
          </a:p>
        </p:txBody>
      </p:sp>
      <p:sp>
        <p:nvSpPr>
          <p:cNvPr id="3" name="Content Placeholder 2">
            <a:extLst>
              <a:ext uri="{FF2B5EF4-FFF2-40B4-BE49-F238E27FC236}">
                <a16:creationId xmlns:a16="http://schemas.microsoft.com/office/drawing/2014/main" xmlns="" id="{3803DB24-4592-BEC4-E024-DA5B48EA7B59}"/>
              </a:ext>
            </a:extLst>
          </p:cNvPr>
          <p:cNvSpPr>
            <a:spLocks noGrp="1"/>
          </p:cNvSpPr>
          <p:nvPr>
            <p:ph idx="1"/>
          </p:nvPr>
        </p:nvSpPr>
        <p:spPr>
          <a:xfrm>
            <a:off x="413004" y="2772862"/>
            <a:ext cx="11365992" cy="4408678"/>
          </a:xfrm>
        </p:spPr>
        <p:txBody>
          <a:bodyPr>
            <a:normAutofit/>
          </a:bodyPr>
          <a:lstStyle/>
          <a:p>
            <a:pPr marL="0" indent="0" algn="ctr">
              <a:lnSpc>
                <a:spcPts val="12948"/>
              </a:lnSpc>
              <a:buNone/>
            </a:pPr>
            <a:r>
              <a:rPr lang="en-US" sz="9600" b="1" dirty="0">
                <a:solidFill>
                  <a:srgbClr val="383C5B"/>
                </a:solidFill>
                <a:latin typeface="Times New Roman" panose="02020603050405020304" pitchFamily="18" charset="0"/>
                <a:ea typeface="Gill Sans Bold"/>
                <a:cs typeface="Times New Roman" panose="02020603050405020304" pitchFamily="18" charset="0"/>
                <a:sym typeface="Gill Sans Bold"/>
              </a:rPr>
              <a:t>Thank You</a:t>
            </a:r>
            <a:endParaRPr lang="en-US" sz="9600" b="1" dirty="0">
              <a:solidFill>
                <a:srgbClr val="383C5B"/>
              </a:solidFill>
              <a:latin typeface="Times New Roman" panose="02020603050405020304" pitchFamily="18" charset="0"/>
              <a:ea typeface="Gill Sans Bold"/>
              <a:cs typeface="Times New Roman" panose="02020603050405020304" pitchFamily="18" charset="0"/>
              <a:sym typeface="Gill Sans Bold"/>
            </a:endParaRPr>
          </a:p>
        </p:txBody>
      </p:sp>
      <p:sp>
        <p:nvSpPr>
          <p:cNvPr id="5" name="Slide Number Placeholder 4">
            <a:extLst>
              <a:ext uri="{FF2B5EF4-FFF2-40B4-BE49-F238E27FC236}">
                <a16:creationId xmlns:a16="http://schemas.microsoft.com/office/drawing/2014/main" xmlns="" id="{3158A4A4-D39D-D5A3-EFB9-E23B700B243E}"/>
              </a:ext>
            </a:extLst>
          </p:cNvPr>
          <p:cNvSpPr>
            <a:spLocks noGrp="1"/>
          </p:cNvSpPr>
          <p:nvPr>
            <p:ph type="sldNum" sz="quarter" idx="12"/>
          </p:nvPr>
        </p:nvSpPr>
        <p:spPr/>
        <p:txBody>
          <a:bodyPr/>
          <a:lstStyle/>
          <a:p>
            <a:fld id="{C1FF6DA9-008F-8B48-92A6-B652298478BF}" type="slidenum">
              <a:rPr lang="en-US" smtClean="0"/>
              <a:t>27</a:t>
            </a:fld>
            <a:endParaRPr lang="en-US" dirty="0"/>
          </a:p>
        </p:txBody>
      </p:sp>
      <p:pic>
        <p:nvPicPr>
          <p:cNvPr id="6" name="Content Placeholder 7">
            <a:extLst>
              <a:ext uri="{FF2B5EF4-FFF2-40B4-BE49-F238E27FC236}">
                <a16:creationId xmlns:a16="http://schemas.microsoft.com/office/drawing/2014/main" xmlns="" id="{6B476194-EE25-F8F0-16FA-5F5DE8E7F0F0}"/>
              </a:ext>
            </a:extLst>
          </p:cNvPr>
          <p:cNvPicPr>
            <a:picLocks noChangeAspect="1"/>
          </p:cNvPicPr>
          <p:nvPr/>
        </p:nvPicPr>
        <p:blipFill>
          <a:blip r:embed="rId2"/>
          <a:stretch>
            <a:fillRect/>
          </a:stretch>
        </p:blipFill>
        <p:spPr>
          <a:xfrm>
            <a:off x="4979586" y="107468"/>
            <a:ext cx="2632087" cy="652758"/>
          </a:xfrm>
          <a:prstGeom prst="rect">
            <a:avLst/>
          </a:prstGeom>
        </p:spPr>
      </p:pic>
      <p:sp>
        <p:nvSpPr>
          <p:cNvPr id="7" name="Rectangle 6">
            <a:extLst>
              <a:ext uri="{FF2B5EF4-FFF2-40B4-BE49-F238E27FC236}">
                <a16:creationId xmlns:a16="http://schemas.microsoft.com/office/drawing/2014/main" xmlns="" id="{8EDCE730-6F9B-AA6F-2FA3-B9D6439C124D}"/>
              </a:ext>
            </a:extLst>
          </p:cNvPr>
          <p:cNvSpPr/>
          <p:nvPr/>
        </p:nvSpPr>
        <p:spPr>
          <a:xfrm>
            <a:off x="0" y="782970"/>
            <a:ext cx="12192000" cy="192024"/>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xmlns="" id="{27C2F619-5DC8-07D8-417C-5E8303CFD74F}"/>
              </a:ext>
            </a:extLst>
          </p:cNvPr>
          <p:cNvPicPr>
            <a:picLocks noChangeAspect="1"/>
          </p:cNvPicPr>
          <p:nvPr/>
        </p:nvPicPr>
        <p:blipFill>
          <a:blip r:embed="rId3"/>
          <a:stretch>
            <a:fillRect/>
          </a:stretch>
        </p:blipFill>
        <p:spPr>
          <a:xfrm>
            <a:off x="602077" y="88506"/>
            <a:ext cx="786779" cy="694464"/>
          </a:xfrm>
          <a:prstGeom prst="rect">
            <a:avLst/>
          </a:prstGeom>
        </p:spPr>
      </p:pic>
      <p:pic>
        <p:nvPicPr>
          <p:cNvPr id="9" name="Picture 8">
            <a:extLst>
              <a:ext uri="{FF2B5EF4-FFF2-40B4-BE49-F238E27FC236}">
                <a16:creationId xmlns:a16="http://schemas.microsoft.com/office/drawing/2014/main" xmlns="" id="{F852C5C6-669C-793B-76E8-7768747EC710}"/>
              </a:ext>
            </a:extLst>
          </p:cNvPr>
          <p:cNvPicPr>
            <a:picLocks noChangeAspect="1"/>
          </p:cNvPicPr>
          <p:nvPr/>
        </p:nvPicPr>
        <p:blipFill>
          <a:blip r:embed="rId4"/>
          <a:stretch>
            <a:fillRect/>
          </a:stretch>
        </p:blipFill>
        <p:spPr>
          <a:xfrm>
            <a:off x="2305649" y="168137"/>
            <a:ext cx="1820609" cy="531421"/>
          </a:xfrm>
          <a:prstGeom prst="rect">
            <a:avLst/>
          </a:prstGeom>
        </p:spPr>
      </p:pic>
      <p:pic>
        <p:nvPicPr>
          <p:cNvPr id="10" name="Picture 9">
            <a:extLst>
              <a:ext uri="{FF2B5EF4-FFF2-40B4-BE49-F238E27FC236}">
                <a16:creationId xmlns:a16="http://schemas.microsoft.com/office/drawing/2014/main" xmlns="" id="{68284452-3B87-58CB-7716-0AA2913BE519}"/>
              </a:ext>
            </a:extLst>
          </p:cNvPr>
          <p:cNvPicPr>
            <a:picLocks noChangeAspect="1"/>
          </p:cNvPicPr>
          <p:nvPr/>
        </p:nvPicPr>
        <p:blipFill>
          <a:blip r:embed="rId5"/>
          <a:stretch>
            <a:fillRect/>
          </a:stretch>
        </p:blipFill>
        <p:spPr>
          <a:xfrm>
            <a:off x="7830293" y="34118"/>
            <a:ext cx="2492530" cy="748852"/>
          </a:xfrm>
          <a:prstGeom prst="rect">
            <a:avLst/>
          </a:prstGeom>
        </p:spPr>
      </p:pic>
      <p:pic>
        <p:nvPicPr>
          <p:cNvPr id="11" name="Picture 10">
            <a:extLst>
              <a:ext uri="{FF2B5EF4-FFF2-40B4-BE49-F238E27FC236}">
                <a16:creationId xmlns:a16="http://schemas.microsoft.com/office/drawing/2014/main" xmlns="" id="{3C548D25-D3A8-8E3E-8886-592B026EA44D}"/>
              </a:ext>
            </a:extLst>
          </p:cNvPr>
          <p:cNvPicPr>
            <a:picLocks noChangeAspect="1"/>
          </p:cNvPicPr>
          <p:nvPr/>
        </p:nvPicPr>
        <p:blipFill>
          <a:blip r:embed="rId6"/>
          <a:stretch>
            <a:fillRect/>
          </a:stretch>
        </p:blipFill>
        <p:spPr>
          <a:xfrm>
            <a:off x="10760062" y="18288"/>
            <a:ext cx="786780" cy="803564"/>
          </a:xfrm>
          <a:prstGeom prst="rect">
            <a:avLst/>
          </a:prstGeom>
        </p:spPr>
      </p:pic>
      <p:sp>
        <p:nvSpPr>
          <p:cNvPr id="13" name="Rectangle 12">
            <a:extLst>
              <a:ext uri="{FF2B5EF4-FFF2-40B4-BE49-F238E27FC236}">
                <a16:creationId xmlns:a16="http://schemas.microsoft.com/office/drawing/2014/main" xmlns="" id="{AD1C9525-56C1-8940-AB9E-FD2AE3154616}"/>
              </a:ext>
            </a:extLst>
          </p:cNvPr>
          <p:cNvSpPr/>
          <p:nvPr/>
        </p:nvSpPr>
        <p:spPr>
          <a:xfrm>
            <a:off x="0" y="6510528"/>
            <a:ext cx="12192000" cy="34747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DCCAAA0F-8DB2-DD62-1E8B-50FBE634C7C8}"/>
              </a:ext>
            </a:extLst>
          </p:cNvPr>
          <p:cNvSpPr txBox="1"/>
          <p:nvPr/>
        </p:nvSpPr>
        <p:spPr>
          <a:xfrm>
            <a:off x="3206496" y="6521904"/>
            <a:ext cx="5779008" cy="338554"/>
          </a:xfrm>
          <a:prstGeom prst="rect">
            <a:avLst/>
          </a:prstGeom>
          <a:noFill/>
        </p:spPr>
        <p:txBody>
          <a:bodyPr wrap="square" rtlCol="0">
            <a:spAutoFit/>
          </a:bodyPr>
          <a:lstStyle/>
          <a:p>
            <a:pPr algn="ctr"/>
            <a:r>
              <a:rPr lang="en-US" sz="1600" dirty="0">
                <a:solidFill>
                  <a:schemeClr val="bg1"/>
                </a:solidFill>
                <a:latin typeface="+mj-lt"/>
              </a:rPr>
              <a:t>Technology and Innovation Conference (TIC-2026), Malaysia</a:t>
            </a:r>
          </a:p>
        </p:txBody>
      </p:sp>
    </p:spTree>
    <p:extLst>
      <p:ext uri="{BB962C8B-B14F-4D97-AF65-F5344CB8AC3E}">
        <p14:creationId xmlns:p14="http://schemas.microsoft.com/office/powerpoint/2010/main" val="2051111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1701</Words>
  <Application>Microsoft Office PowerPoint</Application>
  <PresentationFormat>Widescreen</PresentationFormat>
  <Paragraphs>262</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Agrandir Narrow</vt:lpstr>
      <vt:lpstr>Aptos</vt:lpstr>
      <vt:lpstr>Arial</vt:lpstr>
      <vt:lpstr>Calibri</vt:lpstr>
      <vt:lpstr>Gill Sans Bold</vt:lpstr>
      <vt:lpstr>Times New Roman</vt:lpstr>
      <vt:lpstr>Wingdings</vt:lpstr>
      <vt:lpstr>Office Theme</vt:lpstr>
      <vt:lpstr>PowerPoint Presentation</vt:lpstr>
      <vt:lpstr>Abstract</vt:lpstr>
      <vt:lpstr>Objective</vt:lpstr>
      <vt:lpstr>Literature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Statement</vt:lpstr>
      <vt:lpstr>Proposed solution</vt:lpstr>
      <vt:lpstr>Flow Diagram</vt:lpstr>
      <vt:lpstr>U-Net Architecture</vt:lpstr>
      <vt:lpstr>System Architecture</vt:lpstr>
      <vt:lpstr>Implementation of modules</vt:lpstr>
      <vt:lpstr>Tools and Technologies</vt:lpstr>
      <vt:lpstr>Conclusion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acer</dc:creator>
  <cp:keywords/>
  <dc:description>generated using python-pptx</dc:description>
  <cp:lastModifiedBy>Microsoft account</cp:lastModifiedBy>
  <cp:revision>13</cp:revision>
  <dcterms:created xsi:type="dcterms:W3CDTF">2013-01-27T09:14:16Z</dcterms:created>
  <dcterms:modified xsi:type="dcterms:W3CDTF">2026-05-31T14:58:12Z</dcterms:modified>
  <cp:category/>
</cp:coreProperties>
</file>